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[~20s] Morning everyone, and thanks for coming. I'm Abdullah, and this is my final year project, Jarvis. It's a personal assistant built on large language models, but the twist is it runs locally and it's built as a team of small agents rather than one big model.</a:t>
            </a:r>
            <a:br>
              <a:rPr lang="en-US"/>
            </a:br>
            <a:br>
              <a:rPr lang="en-US"/>
            </a:br>
            <a:r>
              <a:rPr lang="en-US"/>
              <a:t>Over the next ten minutes I'll take you through why I built it, how it actually works, and what I found when I tested it, and then I'll show it running. If there's one line to hang onto, it's this: when these assistants fall over, it's usually not the model that's the problem, it's the way everything around the model is put together.</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[~60s] A bit of context first. People have been promising a proper digital assistant for about thirty years, and it's never quite turned up. You can split the history into four rough generations.</a:t>
            </a:r>
            <a:br>
              <a:rPr lang="en-US"/>
            </a:br>
            <a:br>
              <a:rPr lang="en-US"/>
            </a:br>
            <a:r>
              <a:rPr lang="en-US"/>
              <a:t>The early ones, ELIZA up through Siri and Alexa, were reliable but pretty narrow. They only did what they were scripted to do. Then large language models arrived and suddenly the reasoning was brilliant, but oddly the tool use got worse. They'd happily talk about anything, but couldn't reliably do anything. The newest wave, AutoGPT, CrewAI, LangGraph, tries to fix that, but most of those are cloud-based research demos rather than something you'd actually live with.</a:t>
            </a:r>
            <a:br>
              <a:rPr lang="en-US"/>
            </a:br>
            <a:br>
              <a:rPr lang="en-US"/>
            </a:br>
            <a:r>
              <a:rPr lang="en-US"/>
              <a:t>Jarvis sits in that last group, except it runs on your own machine and I've used it as my real assistant. The question I kept coming back to is the one at the bottom. When it fails, is the model really the limit, or is it the architecture around it?</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[~60s] For the literature I looked at three areas that all feed into this.</a:t>
            </a:r>
            <a:br>
              <a:rPr lang="en-US"/>
            </a:br>
            <a:br>
              <a:rPr lang="en-US"/>
            </a:br>
            <a:r>
              <a:rPr lang="en-US"/>
              <a:t>First, reasoning. Things like Chain-of-Thought and ReAct, where the model thinks, acts, then looks at the result before carrying on. The recurring lesson is that you do better if you keep the planning separate from the doing, and that's something I built in directly. Second, the multiagent and tool-use work, CrewAI, LangGraph, AutoGen and so on. Lots of good ideas, but again, nearly all of it is tested on artificial benchmarks and run in the cloud. Third, memory, mostly retrieval-augmented generation and the split between semantic and episodic memory.</a:t>
            </a:r>
            <a:br>
              <a:rPr lang="en-US"/>
            </a:br>
            <a:br>
              <a:rPr lang="en-US"/>
            </a:br>
            <a:r>
              <a:rPr lang="en-US"/>
              <a:t>Each of these three is well covered on its own. What nobody's really done, and that's the box at the bottom, is pull all three together into something you run locally and use daily, then actually test it. I'm not claiming any single piece is new. The work is in joining them up and evaluating the result.</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[~50s] So the aim, on the left. In one sentence, I wanted to build and properly test a modular assistant that runs locally, breaks a request down into steps, remembers context, actually does real things like sending an email, and checks its own work, all without shipping your data off to a cloud model.</a:t>
            </a:r>
            <a:br>
              <a:rPr lang="en-US"/>
            </a:br>
            <a:br>
              <a:rPr lang="en-US"/>
            </a:br>
            <a:r>
              <a:rPr lang="en-US"/>
              <a:t>Why bother? Two reasons. Academically there's that gap I just mentioned. And personally, I've been using Jarvis as my own assistant for about six months, which is honestly where most of the improvements came from. You find the problems fast when you rely on something every day. My supervisor also pushed me to turn the evaluation into a proper comparison across models, which I'll come back to.</a:t>
            </a:r>
            <a:br>
              <a:rPr lang="en-US"/>
            </a:br>
            <a:br>
              <a:rPr lang="en-US"/>
            </a:br>
            <a:r>
              <a:rPr lang="en-US"/>
              <a:t>The aim breaks down into the seven objectives on the right, and each one lines up with a part of the system you'll see in a minute.</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[~70s] On method, I used Design Science Research. The short version is that the system itself is the thing being studied, and I had to show evidence at every stage rather than just at the end. That's why the evaluation logging has been running since fairly early on.</a:t>
            </a:r>
            <a:br>
              <a:rPr lang="en-US"/>
            </a:br>
            <a:br>
              <a:rPr lang="en-US"/>
            </a:br>
            <a:r>
              <a:rPr lang="en-US"/>
              <a:t>I'll be honest about a couple of changes along the way. I'd originally planned a single-agent versus multiagent comparison, but that would really have been comparing tools rather than architecture, so I swapped it for a comparison across several local models. I also dropped the planned Notion integration and built a finance tool called FinEx instead, because it was a much better test of whether the same setup works in a completely different area.</a:t>
            </a:r>
            <a:br>
              <a:rPr lang="en-US"/>
            </a:br>
            <a:br>
              <a:rPr lang="en-US"/>
            </a:br>
            <a:r>
              <a:rPr lang="en-US"/>
              <a:t>Ethics was front of mind, because Jarvis touches email, calendar, files, the mic, financial documents. Three rules: everything runs on-device by default, nothing irreversible happens without me confirming it, and the Critic checks every plan and result. The main risk is the model making things up, and that's handled by forcing structured output, keeping the temperature low, and letting the Critic catch bad plans and ask for a redo.</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[~45s] Quickly on requirements. There were fifteen functional and eight non-functional, but I'll just point at the ones that mattered for the design.</a:t>
            </a:r>
            <a:br>
              <a:rPr lang="en-US"/>
            </a:br>
            <a:br>
              <a:rPr lang="en-US"/>
            </a:br>
            <a:r>
              <a:rPr lang="en-US"/>
              <a:t>Functionally: it has to sort every request into an intent, break the complex ones into a dependency-aware plan and run them in order, passing one step's output into the next. It has to remember things, ask before doing anything destructive, check and redo its own plans, and let me swap the underlying model without rewriting code.</a:t>
            </a:r>
            <a:br>
              <a:rPr lang="en-US"/>
            </a:br>
            <a:br>
              <a:rPr lang="en-US"/>
            </a:br>
            <a:r>
              <a:rPr lang="en-US"/>
              <a:t>The non-functional one I'd flag is latency, those three tier targets. That target is basically what forced the routing approach on the next slide, because running everything through the full pipeline was just too slow to live with. Every requirement traces to a part of the build and a test.</a:t>
            </a:r>
            <a:endParaRPr/>
          </a:p>
        </p:txBody>
      </p:sp>
      <p:sp>
        <p:nvSpPr>
          <p:cNvPr id="180" name="Google Shape;1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[~90s] This is the heart of it. Rather than one model doing everything, Jarvis splits the work across nine agents with a central orchestrator and seventeen tools. The reason is simple. When you ask one model to plan, remember, act and check itself all in one go, it tends to fall over, and that's pretty well documented.</a:t>
            </a:r>
            <a:br>
              <a:rPr lang="en-US"/>
            </a:br>
            <a:br>
              <a:rPr lang="en-US"/>
            </a:br>
            <a:r>
              <a:rPr lang="en-US"/>
              <a:t>The row along the top is the main flow. Router, memory, planner, then the Critic checks the plan, the executor runs it, the Critic checks the result, and the evaluator logs it. Notice the Critic shows up twice, before and after.</a:t>
            </a:r>
            <a:br>
              <a:rPr lang="en-US"/>
            </a:br>
            <a:br>
              <a:rPr lang="en-US"/>
            </a:br>
            <a:r>
              <a:rPr lang="en-US"/>
              <a:t>The bit I'm most pleased with is the tier system in the middle. Instead of every request going through that whole pipeline, the router works out how hard the request is. Asking for the weather skips straight to a tool and comes back in under a second. A factual question is one model call plus a search, so a few seconds. Only a genuinely multi-step request pays for the full pipeline, which is around ninety seconds locally. Early on, even simple requests were taking thirty to forty-five seconds, which was unusable. So tiering is my way of only paying that cost when the task actually needs it.</a:t>
            </a:r>
            <a:br>
              <a:rPr lang="en-US"/>
            </a:br>
            <a:br>
              <a:rPr lang="en-US"/>
            </a:br>
            <a:r>
              <a:rPr lang="en-US"/>
              <a:t>Two things underneath make it work. The templated injection that passes data from one step to the next, and a fast set of regex rules that handle the common requests before the model even gets involved.</a:t>
            </a:r>
            <a:endParaRPr/>
          </a:p>
        </p:txBody>
      </p:sp>
      <p:sp>
        <p:nvSpPr>
          <p:cNvPr id="244" name="Google Shape;2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[~60s] On the build itself, it's all Python, fully async, so independent steps can run at the same time. Local models run through Ollama, ChromaDB handles the memory, the web interface is FastAPI over WebSocket, the voice side uses Whisper and a couple of others, and it's containerised so I can deploy it for a remote demo.</a:t>
            </a:r>
            <a:br>
              <a:rPr lang="en-US"/>
            </a:br>
            <a:br>
              <a:rPr lang="en-US"/>
            </a:br>
            <a:r>
              <a:rPr lang="en-US"/>
              <a:t>The right-hand side is where most of my time actually went. Getting clean JSON out of small models was easily the biggest headache. They love wrapping it in markdown or tacking on an extra sentence, so there's a few layers of cleanup. OAuth was fiddly to get working in the cloud. And one thing I learned the hard way: if you just ask the model to replan, it hands you back almost the same thing, so I feed the Critic's actual complaints into the retry and then you get a genuinely different plan. The whole thing is built on the assumption that any model call might fail.</a:t>
            </a:r>
            <a:endParaRPr/>
          </a:p>
        </p:txBody>
      </p:sp>
      <p:sp>
        <p:nvSpPr>
          <p:cNvPr id="295" name="Google Shape;2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[~75s] So, does it work. On the default local model, which is one of the smaller ones out there, the average score across nine tasks was 0.83, and all sixteen runs cleared the 0.7 mark I'd set. The replanning kicked in on about a third of the tasks.</a:t>
            </a:r>
            <a:br>
              <a:rPr lang="en-US"/>
            </a:br>
            <a:br>
              <a:rPr lang="en-US"/>
            </a:br>
            <a:r>
              <a:rPr lang="en-US"/>
              <a:t>The chart is really the point of the whole tier design. Look at the scale. Tier one is under a second, tier three is around ninety-five seconds, so it clearly makes sense to only run the heavy pipeline when you actually have to.</a:t>
            </a:r>
            <a:br>
              <a:rPr lang="en-US"/>
            </a:br>
            <a:br>
              <a:rPr lang="en-US"/>
            </a:br>
            <a:r>
              <a:rPr lang="en-US"/>
              <a:t>A few honest observations. Plans scored higher than execution, so it's better at deciding what to do than at landing every single API call, mostly Google Calendar being flaky. The time is dominated by the model thinking, not the tools. And the tasks that got replanned took longer but ended up scoring about the same, so the loop is earning its place.</a:t>
            </a:r>
            <a:br>
              <a:rPr lang="en-US"/>
            </a:br>
            <a:br>
              <a:rPr lang="en-US"/>
            </a:br>
            <a:r>
              <a:rPr lang="en-US"/>
              <a:t>I should be upfront about the limits too. It's a small set of tasks, mostly one model on one laptop, and the Critic is itself a model, so it carries its own biases.</a:t>
            </a:r>
            <a:endParaRPr/>
          </a:p>
        </p:txBody>
      </p:sp>
      <p:sp>
        <p:nvSpPr>
          <p:cNvPr id="355" name="Google Shape;3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 around 5 minutes]</a:t>
            </a:r>
            <a:br>
              <a:rPr lang="en-US"/>
            </a:br>
            <a:br>
              <a:rPr lang="en-US"/>
            </a:br>
            <a:r>
              <a:rPr lang="en-US"/>
              <a:t>Right, let me show you it running. I'll go slowly so you can see the architecture we just covered showing up in how it behaves.</a:t>
            </a:r>
            <a:br>
              <a:rPr lang="en-US"/>
            </a:br>
            <a:br>
              <a:rPr lang="en-US"/>
            </a:br>
            <a:r>
              <a:rPr lang="en-US"/>
              <a:t>Checklist before I start: Ollama running, model loaded, server up, browser open, mic allowed, and the backup recording ready to go.</a:t>
            </a:r>
            <a:br>
              <a:rPr lang="en-US"/>
            </a:br>
            <a:br>
              <a:rPr lang="en-US"/>
            </a:br>
            <a:r>
              <a:rPr lang="en-US"/>
              <a:t>1. Tier one. I'll ask for the weather, or to play some music and set the volume. Point out how fast it comes back, that's the shortcut, no planning involved.</a:t>
            </a:r>
            <a:br>
              <a:rPr lang="en-US"/>
            </a:br>
            <a:br>
              <a:rPr lang="en-US"/>
            </a:br>
            <a:r>
              <a:rPr lang="en-US"/>
              <a:t>2. Tier two. A factual question. One model call plus a search, takes a few seconds.</a:t>
            </a:r>
            <a:br>
              <a:rPr lang="en-US"/>
            </a:br>
            <a:br>
              <a:rPr lang="en-US"/>
            </a:br>
            <a:r>
              <a:rPr lang="en-US"/>
              <a:t>3. Tier three. This is the one to talk over. 'Get the news, check the weather and give me a morning briefing.' Show the plan appearing, the steps running in order, the Critic checking, then the final briefing. That's the whole architecture in one request.</a:t>
            </a:r>
            <a:br>
              <a:rPr lang="en-US"/>
            </a:br>
            <a:br>
              <a:rPr lang="en-US"/>
            </a:br>
            <a:r>
              <a:rPr lang="en-US"/>
              <a:t>4. Voice. Use the wake word, ask for something that makes a calendar event or an email, and stop on the confirmation step to show it won't do anything without my say-so.</a:t>
            </a:r>
            <a:br>
              <a:rPr lang="en-US"/>
            </a:br>
            <a:br>
              <a:rPr lang="en-US"/>
            </a:br>
            <a:r>
              <a:rPr lang="en-US"/>
              <a:t>5. FinEx. Ask a question against one of the annual-report PDFs, to show the same setup working on something totally different.</a:t>
            </a:r>
            <a:br>
              <a:rPr lang="en-US"/>
            </a:br>
            <a:br>
              <a:rPr lang="en-US"/>
            </a:br>
            <a:r>
              <a:rPr lang="en-US"/>
              <a:t>If anything hangs, switch to the recording and keep talking, don't sit there waiting on the model. Then move on to the conclusions.</a:t>
            </a:r>
            <a:endParaRPr/>
          </a:p>
        </p:txBody>
      </p:sp>
      <p:sp>
        <p:nvSpPr>
          <p:cNvPr id="379" name="Google Shape;3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[~60s] To wrap up. A small local model, around three billion parameters, hit that 0.83 average with everything passing, and the point is that came from how the system is put together, not from a bigger or fancier model. That's the evidence for my main argument, the bottleneck is the architecture.</a:t>
            </a:r>
            <a:br>
              <a:rPr lang="en-US"/>
            </a:br>
            <a:br>
              <a:rPr lang="en-US"/>
            </a:br>
            <a:r>
              <a:rPr lang="en-US"/>
              <a:t>Three things I'd call contributions. The tiered routing, so you only pay the coordination cost when it's worth it. The templated injection that keeps the planner separate from the actual data, which means plans can be reused. And the Critic loop that catches bad output before you see it.</a:t>
            </a:r>
            <a:br>
              <a:rPr lang="en-US"/>
            </a:br>
            <a:br>
              <a:rPr lang="en-US"/>
            </a:br>
            <a:r>
              <a:rPr lang="en-US"/>
              <a:t>And if there's one idea worth taking away, it's the line in yellow. There's a real trade-off between how much the agents talk to each other and how fast you get an answer, and tiering turns that into something you can actually dial up or down depending on the task.</a:t>
            </a:r>
            <a:endParaRPr/>
          </a:p>
        </p:txBody>
      </p:sp>
      <p:sp>
        <p:nvSpPr>
          <p:cNvPr id="420" name="Google Shape;4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[~40s] It works, but it's not finished. Five things I'd do next, roughly easiest first.</a:t>
            </a:r>
            <a:br>
              <a:rPr lang="en-US"/>
            </a:br>
            <a:br>
              <a:rPr lang="en-US"/>
            </a:br>
            <a:r>
              <a:rPr lang="en-US"/>
              <a:t>Proper schema validation would catch bad plans earlier, and that's about a week's work. The memory would need a real vector database to scale past one user. The two I genuinely wish I'd had time for are a proper user study, I've already drafted the consent forms, and a fuller comparison across models, where the infrastructure is already in place. And the ambitious one is letting it learn from itself, storing the plans that worked and reusing them, so it actually gets better over time instead of starting from scratch each time.</a:t>
            </a:r>
            <a:endParaRPr/>
          </a:p>
        </p:txBody>
      </p:sp>
      <p:sp>
        <p:nvSpPr>
          <p:cNvPr id="448" name="Google Shape;44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[~10s] That's Jarvis, thank you. The main references are on screen and everything else is in the report. Happy to take questions.</a:t>
            </a:r>
            <a:br>
              <a:rPr lang="en-US"/>
            </a:br>
            <a:br>
              <a:rPr lang="en-US"/>
            </a:br>
            <a:r>
              <a:rPr lang="en-US"/>
              <a:t>Likely questions, and how I'd answer them:</a:t>
            </a:r>
            <a:br>
              <a:rPr lang="en-US"/>
            </a:br>
            <a:br>
              <a:rPr lang="en-US"/>
            </a:br>
            <a:r>
              <a:rPr lang="en-US"/>
              <a:t>- Why no single-agent baseline? It would have compared tooling, not architecture, so the model comparison isolates the bit I actually care about.</a:t>
            </a:r>
            <a:br>
              <a:rPr lang="en-US"/>
            </a:br>
            <a:br>
              <a:rPr lang="en-US"/>
            </a:br>
            <a:r>
              <a:rPr lang="en-US"/>
              <a:t>- Why such small models? Because that's what people can realistically run at home, and they're the least studied.</a:t>
            </a:r>
            <a:br>
              <a:rPr lang="en-US"/>
            </a:br>
            <a:br>
              <a:rPr lang="en-US"/>
            </a:br>
            <a:r>
              <a:rPr lang="en-US"/>
              <a:t>- How is privacy actually guaranteed? Everything runs locally by default, the access scopes are minimal, and nothing goes to a third-party model unless I switch to cloud mode on purpose.</a:t>
            </a:r>
            <a:br>
              <a:rPr lang="en-US"/>
            </a:br>
            <a:br>
              <a:rPr lang="en-US"/>
            </a:br>
            <a:r>
              <a:rPr lang="en-US"/>
              <a:t>- Isn't ninety-five seconds slow? Yes, that's the cost of doing it locally. Tiering means only the hard tasks pay it, and a cloud model brings it right down.</a:t>
            </a:r>
            <a:br>
              <a:rPr lang="en-US"/>
            </a:br>
            <a:br>
              <a:rPr lang="en-US"/>
            </a:br>
            <a:r>
              <a:rPr lang="en-US"/>
              <a:t>- Biggest weakness? One model, one machine, and no formal user study yet. Both are top of the further-work list.</a:t>
            </a:r>
            <a:endParaRPr/>
          </a:p>
        </p:txBody>
      </p:sp>
      <p:sp>
        <p:nvSpPr>
          <p:cNvPr id="486" name="Google Shape;48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4.png"/><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24.png"/><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6.png"/><Relationship Id="rId5"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39.png"/><Relationship Id="rId6" Type="http://schemas.openxmlformats.org/officeDocument/2006/relationships/image" Target="../media/image27.png"/><Relationship Id="rId7"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15" name="Shape 15"/>
        <p:cNvGrpSpPr/>
        <p:nvPr/>
      </p:nvGrpSpPr>
      <p:grpSpPr>
        <a:xfrm>
          <a:off x="0" y="0"/>
          <a:ext cx="0" cy="0"/>
          <a:chOff x="0" y="0"/>
          <a:chExt cx="0" cy="0"/>
        </a:xfrm>
      </p:grpSpPr>
      <p:sp>
        <p:nvSpPr>
          <p:cNvPr id="16" name="Google Shape;16;p3"/>
          <p:cNvSpPr/>
          <p:nvPr/>
        </p:nvSpPr>
        <p:spPr>
          <a:xfrm>
            <a:off x="9628632" y="1965960"/>
            <a:ext cx="2926080" cy="2926080"/>
          </a:xfrm>
          <a:prstGeom prst="ellipse">
            <a:avLst/>
          </a:prstGeom>
          <a:noFill/>
          <a:ln cap="flat" cmpd="sng" w="12700">
            <a:solidFill>
              <a:srgbClr val="22D3EE">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942832" y="1280160"/>
            <a:ext cx="4297680" cy="4297680"/>
          </a:xfrm>
          <a:prstGeom prst="ellipse">
            <a:avLst/>
          </a:prstGeom>
          <a:noFill/>
          <a:ln cap="flat" cmpd="sng" w="12700">
            <a:solidFill>
              <a:srgbClr val="3B82F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257032" y="594360"/>
            <a:ext cx="5669280" cy="5669280"/>
          </a:xfrm>
          <a:prstGeom prst="ellipse">
            <a:avLst/>
          </a:prstGeom>
          <a:noFill/>
          <a:ln cap="flat" cmpd="sng" w="12700">
            <a:solidFill>
              <a:srgbClr val="22D3EE">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7571232" y="-91440"/>
            <a:ext cx="7040880" cy="7040880"/>
          </a:xfrm>
          <a:prstGeom prst="ellipse">
            <a:avLst/>
          </a:prstGeom>
          <a:noFill/>
          <a:ln cap="flat" cmpd="sng" w="12700">
            <a:solidFill>
              <a:srgbClr val="3B82F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0405872" y="3017520"/>
            <a:ext cx="822960" cy="822960"/>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3"/>
          <p:cNvPicPr preferRelativeResize="0"/>
          <p:nvPr/>
        </p:nvPicPr>
        <p:blipFill rotWithShape="1">
          <a:blip r:embed="rId3">
            <a:alphaModFix/>
          </a:blip>
          <a:srcRect b="0" l="0" r="0" t="0"/>
          <a:stretch/>
        </p:blipFill>
        <p:spPr>
          <a:xfrm>
            <a:off x="10616184" y="3227832"/>
            <a:ext cx="402336" cy="402336"/>
          </a:xfrm>
          <a:prstGeom prst="rect">
            <a:avLst/>
          </a:prstGeom>
          <a:noFill/>
          <a:ln>
            <a:noFill/>
          </a:ln>
        </p:spPr>
      </p:pic>
      <p:sp>
        <p:nvSpPr>
          <p:cNvPr id="22" name="Google Shape;22;p3"/>
          <p:cNvSpPr/>
          <p:nvPr/>
        </p:nvSpPr>
        <p:spPr>
          <a:xfrm>
            <a:off x="731520" y="137160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COM6001  ·  FINAL YEAR PROJECT  ·  PATHWAY A</a:t>
            </a:r>
            <a:endParaRPr b="0" i="0" sz="1400" u="none" cap="none" strike="noStrike">
              <a:solidFill>
                <a:schemeClr val="dk1"/>
              </a:solidFill>
              <a:latin typeface="Calibri"/>
              <a:ea typeface="Calibri"/>
              <a:cs typeface="Calibri"/>
              <a:sym typeface="Calibri"/>
            </a:endParaRPr>
          </a:p>
        </p:txBody>
      </p:sp>
      <p:sp>
        <p:nvSpPr>
          <p:cNvPr id="23" name="Google Shape;23;p3"/>
          <p:cNvSpPr/>
          <p:nvPr/>
        </p:nvSpPr>
        <p:spPr>
          <a:xfrm>
            <a:off x="676656" y="178308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8000"/>
              <a:buFont typeface="Trebuchet MS"/>
              <a:buNone/>
            </a:pPr>
            <a:r>
              <a:rPr b="1" i="0" lang="en-US" sz="8000" u="none" cap="none" strike="noStrike">
                <a:solidFill>
                  <a:srgbClr val="E6EDF6"/>
                </a:solidFill>
                <a:latin typeface="Trebuchet MS"/>
                <a:ea typeface="Trebuchet MS"/>
                <a:cs typeface="Trebuchet MS"/>
                <a:sym typeface="Trebuchet MS"/>
              </a:rPr>
              <a:t>JARVIS</a:t>
            </a:r>
            <a:endParaRPr b="0" i="0" sz="8000" u="none" cap="none" strike="noStrike">
              <a:solidFill>
                <a:schemeClr val="dk1"/>
              </a:solidFill>
              <a:latin typeface="Calibri"/>
              <a:ea typeface="Calibri"/>
              <a:cs typeface="Calibri"/>
              <a:sym typeface="Calibri"/>
            </a:endParaRPr>
          </a:p>
        </p:txBody>
      </p:sp>
      <p:sp>
        <p:nvSpPr>
          <p:cNvPr id="24" name="Google Shape;24;p3"/>
          <p:cNvSpPr/>
          <p:nvPr/>
        </p:nvSpPr>
        <p:spPr>
          <a:xfrm>
            <a:off x="731520" y="2971800"/>
            <a:ext cx="7863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2200"/>
              <a:buFont typeface="Trebuchet MS"/>
              <a:buNone/>
            </a:pPr>
            <a:r>
              <a:rPr b="0" i="1" lang="en-US" sz="2200" u="none" cap="none" strike="noStrike">
                <a:solidFill>
                  <a:srgbClr val="60A5FA"/>
                </a:solidFill>
                <a:latin typeface="Trebuchet MS"/>
                <a:ea typeface="Trebuchet MS"/>
                <a:cs typeface="Trebuchet MS"/>
                <a:sym typeface="Trebuchet MS"/>
              </a:rPr>
              <a:t>A Local-First Multiagent Architecture for LLM-Driven Personal Executive Assistance</a:t>
            </a:r>
            <a:endParaRPr b="0" i="0" sz="2200" u="none" cap="none" strike="noStrike">
              <a:solidFill>
                <a:schemeClr val="dk1"/>
              </a:solidFill>
              <a:latin typeface="Calibri"/>
              <a:ea typeface="Calibri"/>
              <a:cs typeface="Calibri"/>
              <a:sym typeface="Calibri"/>
            </a:endParaRPr>
          </a:p>
        </p:txBody>
      </p:sp>
      <p:sp>
        <p:nvSpPr>
          <p:cNvPr id="25" name="Google Shape;25;p3"/>
          <p:cNvSpPr/>
          <p:nvPr/>
        </p:nvSpPr>
        <p:spPr>
          <a:xfrm>
            <a:off x="731520" y="388620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400"/>
              <a:buFont typeface="Calibri"/>
              <a:buNone/>
            </a:pPr>
            <a:r>
              <a:rPr b="0" i="0" lang="en-US" sz="1400" u="none" cap="none" strike="noStrike">
                <a:solidFill>
                  <a:srgbClr val="93A4BC"/>
                </a:solidFill>
                <a:latin typeface="Calibri"/>
                <a:ea typeface="Calibri"/>
                <a:cs typeface="Calibri"/>
                <a:sym typeface="Calibri"/>
              </a:rPr>
              <a:t>Reasoning · Memory · Tool-Augmented Task Automation</a:t>
            </a:r>
            <a:endParaRPr b="0" i="0" sz="1400" u="none" cap="none" strike="noStrike">
              <a:solidFill>
                <a:schemeClr val="dk1"/>
              </a:solidFill>
              <a:latin typeface="Calibri"/>
              <a:ea typeface="Calibri"/>
              <a:cs typeface="Calibri"/>
              <a:sym typeface="Calibri"/>
            </a:endParaRPr>
          </a:p>
        </p:txBody>
      </p:sp>
      <p:cxnSp>
        <p:nvCxnSpPr>
          <p:cNvPr id="26" name="Google Shape;26;p3"/>
          <p:cNvCxnSpPr/>
          <p:nvPr/>
        </p:nvCxnSpPr>
        <p:spPr>
          <a:xfrm>
            <a:off x="749808" y="4892040"/>
            <a:ext cx="3657600" cy="0"/>
          </a:xfrm>
          <a:prstGeom prst="straightConnector1">
            <a:avLst/>
          </a:prstGeom>
          <a:noFill/>
          <a:ln cap="flat" cmpd="sng" w="19050">
            <a:solidFill>
              <a:srgbClr val="293552"/>
            </a:solidFill>
            <a:prstDash val="solid"/>
            <a:round/>
            <a:headEnd len="sm" w="sm" type="none"/>
            <a:tailEnd len="sm" w="sm" type="none"/>
          </a:ln>
        </p:spPr>
      </p:cxnSp>
      <p:sp>
        <p:nvSpPr>
          <p:cNvPr id="27" name="Google Shape;27;p3"/>
          <p:cNvSpPr/>
          <p:nvPr/>
        </p:nvSpPr>
        <p:spPr>
          <a:xfrm>
            <a:off x="731520" y="5029200"/>
            <a:ext cx="78638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700"/>
              <a:buFont typeface="Calibri"/>
              <a:buNone/>
            </a:pPr>
            <a:r>
              <a:rPr b="1" i="0" lang="en-US" sz="1700" u="none" cap="none" strike="noStrike">
                <a:solidFill>
                  <a:srgbClr val="E6EDF6"/>
                </a:solidFill>
                <a:latin typeface="Calibri"/>
                <a:ea typeface="Calibri"/>
                <a:cs typeface="Calibri"/>
                <a:sym typeface="Calibri"/>
              </a:rPr>
              <a:t>Abdullah Khan Durrani</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3A4BC"/>
              </a:buClr>
              <a:buSzPts val="1300"/>
              <a:buFont typeface="Calibri"/>
              <a:buNone/>
            </a:pPr>
            <a:r>
              <a:rPr b="0" i="0" lang="en-US" sz="1300" u="none" cap="none" strike="noStrike">
                <a:solidFill>
                  <a:srgbClr val="93A4BC"/>
                </a:solidFill>
                <a:latin typeface="Calibri"/>
                <a:ea typeface="Calibri"/>
                <a:cs typeface="Calibri"/>
                <a:sym typeface="Calibri"/>
              </a:rPr>
              <a:t>Student No. 22318681  ·  Buckinghamshire New University</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D3EE"/>
              </a:buClr>
              <a:buSzPts val="1300"/>
              <a:buFont typeface="Calibri"/>
              <a:buNone/>
            </a:pPr>
            <a:r>
              <a:rPr b="1" i="0" lang="en-US" sz="1300" u="none" cap="none" strike="noStrike">
                <a:solidFill>
                  <a:srgbClr val="22D3EE"/>
                </a:solidFill>
                <a:latin typeface="Calibri"/>
                <a:ea typeface="Calibri"/>
                <a:cs typeface="Calibri"/>
                <a:sym typeface="Calibri"/>
              </a:rPr>
              <a:t>Presentation · 12 June 2026</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32" name="Shape 32"/>
        <p:cNvGrpSpPr/>
        <p:nvPr/>
      </p:nvGrpSpPr>
      <p:grpSpPr>
        <a:xfrm>
          <a:off x="0" y="0"/>
          <a:ext cx="0" cy="0"/>
          <a:chOff x="0" y="0"/>
          <a:chExt cx="0" cy="0"/>
        </a:xfrm>
      </p:grpSpPr>
      <p:sp>
        <p:nvSpPr>
          <p:cNvPr id="33" name="Google Shape;33;p4"/>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01</a:t>
            </a:r>
            <a:endParaRPr b="0" i="0" sz="3000" u="none" cap="none" strike="noStrike">
              <a:solidFill>
                <a:schemeClr val="dk1"/>
              </a:solidFill>
              <a:latin typeface="Calibri"/>
              <a:ea typeface="Calibri"/>
              <a:cs typeface="Calibri"/>
              <a:sym typeface="Calibri"/>
            </a:endParaRPr>
          </a:p>
        </p:txBody>
      </p:sp>
      <p:sp>
        <p:nvSpPr>
          <p:cNvPr id="34" name="Google Shape;34;p4"/>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1 · INTRODUCTION &amp; RESEARCH INQUIRY</a:t>
            </a:r>
            <a:endParaRPr b="0" i="0" sz="1200" u="none" cap="none" strike="noStrike">
              <a:solidFill>
                <a:schemeClr val="dk1"/>
              </a:solidFill>
              <a:latin typeface="Calibri"/>
              <a:ea typeface="Calibri"/>
              <a:cs typeface="Calibri"/>
              <a:sym typeface="Calibri"/>
            </a:endParaRPr>
          </a:p>
        </p:txBody>
      </p:sp>
      <p:sp>
        <p:nvSpPr>
          <p:cNvPr id="35" name="Google Shape;35;p4"/>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Brilliant reasoners, unreliable assistants</a:t>
            </a:r>
            <a:endParaRPr b="0" i="0" sz="3000" u="none" cap="none" strike="noStrike">
              <a:solidFill>
                <a:schemeClr val="dk1"/>
              </a:solidFill>
              <a:latin typeface="Calibri"/>
              <a:ea typeface="Calibri"/>
              <a:cs typeface="Calibri"/>
              <a:sym typeface="Calibri"/>
            </a:endParaRPr>
          </a:p>
        </p:txBody>
      </p:sp>
      <p:sp>
        <p:nvSpPr>
          <p:cNvPr id="36" name="Google Shape;36;p4"/>
          <p:cNvSpPr/>
          <p:nvPr/>
        </p:nvSpPr>
        <p:spPr>
          <a:xfrm>
            <a:off x="548640" y="148132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500"/>
              <a:buFont typeface="Calibri"/>
              <a:buNone/>
            </a:pPr>
            <a:r>
              <a:rPr b="0" i="0" lang="en-US" sz="1500" u="none" cap="none" strike="noStrike">
                <a:solidFill>
                  <a:srgbClr val="93A4BC"/>
                </a:solidFill>
                <a:latin typeface="Calibri"/>
                <a:ea typeface="Calibri"/>
                <a:cs typeface="Calibri"/>
                <a:sym typeface="Calibri"/>
              </a:rPr>
              <a:t>LLMs can reason, write and explain fluently, yet the assistants built around them still behave like one-shot chatbots: they think in isolation, struggle to plan past one step, and can't reliably press the buttons real tasks need.</a:t>
            </a:r>
            <a:endParaRPr b="0" i="0" sz="1500" u="none" cap="none" strike="noStrike">
              <a:solidFill>
                <a:schemeClr val="dk1"/>
              </a:solidFill>
              <a:latin typeface="Calibri"/>
              <a:ea typeface="Calibri"/>
              <a:cs typeface="Calibri"/>
              <a:sym typeface="Calibri"/>
            </a:endParaRPr>
          </a:p>
        </p:txBody>
      </p:sp>
      <p:sp>
        <p:nvSpPr>
          <p:cNvPr id="37" name="Google Shape;37;p4"/>
          <p:cNvSpPr/>
          <p:nvPr/>
        </p:nvSpPr>
        <p:spPr>
          <a:xfrm>
            <a:off x="548640" y="2514600"/>
            <a:ext cx="2670048" cy="3246120"/>
          </a:xfrm>
          <a:prstGeom prst="roundRect">
            <a:avLst>
              <a:gd fmla="val 274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22960" y="2788920"/>
            <a:ext cx="731520" cy="731520"/>
          </a:xfrm>
          <a:prstGeom prst="ellipse">
            <a:avLst/>
          </a:prstGeom>
          <a:solidFill>
            <a:srgbClr val="0C1326"/>
          </a:solidFill>
          <a:ln cap="flat" cmpd="sng" w="12700">
            <a:solidFill>
              <a:srgbClr val="2935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 name="Google Shape;39;p4"/>
          <p:cNvPicPr preferRelativeResize="0"/>
          <p:nvPr/>
        </p:nvPicPr>
        <p:blipFill rotWithShape="1">
          <a:blip r:embed="rId3">
            <a:alphaModFix/>
          </a:blip>
          <a:srcRect b="0" l="0" r="0" t="0"/>
          <a:stretch/>
        </p:blipFill>
        <p:spPr>
          <a:xfrm>
            <a:off x="1005840" y="2971800"/>
            <a:ext cx="365760" cy="365760"/>
          </a:xfrm>
          <a:prstGeom prst="rect">
            <a:avLst/>
          </a:prstGeom>
          <a:noFill/>
          <a:ln>
            <a:noFill/>
          </a:ln>
        </p:spPr>
      </p:pic>
      <p:sp>
        <p:nvSpPr>
          <p:cNvPr id="40" name="Google Shape;40;p4"/>
          <p:cNvSpPr/>
          <p:nvPr/>
        </p:nvSpPr>
        <p:spPr>
          <a:xfrm>
            <a:off x="804672" y="361188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Trebuchet MS"/>
              <a:buNone/>
            </a:pPr>
            <a:r>
              <a:rPr b="1" i="0" lang="en-US" sz="1100" u="none" cap="none" strike="noStrike">
                <a:solidFill>
                  <a:srgbClr val="93A4BC"/>
                </a:solidFill>
                <a:latin typeface="Trebuchet MS"/>
                <a:ea typeface="Trebuchet MS"/>
                <a:cs typeface="Trebuchet MS"/>
                <a:sym typeface="Trebuchet MS"/>
              </a:rPr>
              <a:t>1960s–2010s</a:t>
            </a:r>
            <a:endParaRPr b="0" i="0" sz="1100" u="none" cap="none" strike="noStrike">
              <a:solidFill>
                <a:schemeClr val="dk1"/>
              </a:solidFill>
              <a:latin typeface="Calibri"/>
              <a:ea typeface="Calibri"/>
              <a:cs typeface="Calibri"/>
              <a:sym typeface="Calibri"/>
            </a:endParaRPr>
          </a:p>
        </p:txBody>
      </p:sp>
      <p:sp>
        <p:nvSpPr>
          <p:cNvPr id="41" name="Google Shape;41;p4"/>
          <p:cNvSpPr/>
          <p:nvPr/>
        </p:nvSpPr>
        <p:spPr>
          <a:xfrm>
            <a:off x="804672" y="3913632"/>
            <a:ext cx="22128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Pattern-matching &amp; intent pipelines</a:t>
            </a:r>
            <a:endParaRPr b="0" i="0" sz="1600" u="none" cap="none" strike="noStrike">
              <a:solidFill>
                <a:schemeClr val="dk1"/>
              </a:solidFill>
              <a:latin typeface="Calibri"/>
              <a:ea typeface="Calibri"/>
              <a:cs typeface="Calibri"/>
              <a:sym typeface="Calibri"/>
            </a:endParaRPr>
          </a:p>
        </p:txBody>
      </p:sp>
      <p:sp>
        <p:nvSpPr>
          <p:cNvPr id="42" name="Google Shape;42;p4"/>
          <p:cNvSpPr/>
          <p:nvPr/>
        </p:nvSpPr>
        <p:spPr>
          <a:xfrm>
            <a:off x="804672" y="4617720"/>
            <a:ext cx="221284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Reliable but narrow — ELIZA, Siri, Alexa</a:t>
            </a:r>
            <a:endParaRPr b="0" i="0" sz="1200" u="none" cap="none" strike="noStrike">
              <a:solidFill>
                <a:schemeClr val="dk1"/>
              </a:solidFill>
              <a:latin typeface="Calibri"/>
              <a:ea typeface="Calibri"/>
              <a:cs typeface="Calibri"/>
              <a:sym typeface="Calibri"/>
            </a:endParaRPr>
          </a:p>
        </p:txBody>
      </p:sp>
      <p:sp>
        <p:nvSpPr>
          <p:cNvPr id="43" name="Google Shape;43;p4"/>
          <p:cNvSpPr/>
          <p:nvPr/>
        </p:nvSpPr>
        <p:spPr>
          <a:xfrm>
            <a:off x="3383280" y="2514600"/>
            <a:ext cx="2670048" cy="3246120"/>
          </a:xfrm>
          <a:prstGeom prst="roundRect">
            <a:avLst>
              <a:gd fmla="val 274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3657600" y="2788920"/>
            <a:ext cx="731520" cy="731520"/>
          </a:xfrm>
          <a:prstGeom prst="ellipse">
            <a:avLst/>
          </a:prstGeom>
          <a:solidFill>
            <a:srgbClr val="0C1326"/>
          </a:solidFill>
          <a:ln cap="flat" cmpd="sng" w="12700">
            <a:solidFill>
              <a:srgbClr val="2935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4"/>
          <p:cNvPicPr preferRelativeResize="0"/>
          <p:nvPr/>
        </p:nvPicPr>
        <p:blipFill rotWithShape="1">
          <a:blip r:embed="rId4">
            <a:alphaModFix/>
          </a:blip>
          <a:srcRect b="0" l="0" r="0" t="0"/>
          <a:stretch/>
        </p:blipFill>
        <p:spPr>
          <a:xfrm>
            <a:off x="3840480" y="2971800"/>
            <a:ext cx="365760" cy="365760"/>
          </a:xfrm>
          <a:prstGeom prst="rect">
            <a:avLst/>
          </a:prstGeom>
          <a:noFill/>
          <a:ln>
            <a:noFill/>
          </a:ln>
        </p:spPr>
      </p:pic>
      <p:sp>
        <p:nvSpPr>
          <p:cNvPr id="46" name="Google Shape;46;p4"/>
          <p:cNvSpPr/>
          <p:nvPr/>
        </p:nvSpPr>
        <p:spPr>
          <a:xfrm>
            <a:off x="3639312" y="361188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Trebuchet MS"/>
              <a:buNone/>
            </a:pPr>
            <a:r>
              <a:rPr b="1" i="0" lang="en-US" sz="1100" u="none" cap="none" strike="noStrike">
                <a:solidFill>
                  <a:srgbClr val="93A4BC"/>
                </a:solidFill>
                <a:latin typeface="Trebuchet MS"/>
                <a:ea typeface="Trebuchet MS"/>
                <a:cs typeface="Trebuchet MS"/>
                <a:sym typeface="Trebuchet MS"/>
              </a:rPr>
              <a:t>2020s</a:t>
            </a:r>
            <a:endParaRPr b="0" i="0" sz="1100" u="none" cap="none" strike="noStrike">
              <a:solidFill>
                <a:schemeClr val="dk1"/>
              </a:solidFill>
              <a:latin typeface="Calibri"/>
              <a:ea typeface="Calibri"/>
              <a:cs typeface="Calibri"/>
              <a:sym typeface="Calibri"/>
            </a:endParaRPr>
          </a:p>
        </p:txBody>
      </p:sp>
      <p:sp>
        <p:nvSpPr>
          <p:cNvPr id="47" name="Google Shape;47;p4"/>
          <p:cNvSpPr/>
          <p:nvPr/>
        </p:nvSpPr>
        <p:spPr>
          <a:xfrm>
            <a:off x="3639312" y="3913632"/>
            <a:ext cx="22128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General-purpose LLMs</a:t>
            </a:r>
            <a:endParaRPr b="0" i="0" sz="1600" u="none" cap="none" strike="noStrike">
              <a:solidFill>
                <a:schemeClr val="dk1"/>
              </a:solidFill>
              <a:latin typeface="Calibri"/>
              <a:ea typeface="Calibri"/>
              <a:cs typeface="Calibri"/>
              <a:sym typeface="Calibri"/>
            </a:endParaRPr>
          </a:p>
        </p:txBody>
      </p:sp>
      <p:sp>
        <p:nvSpPr>
          <p:cNvPr id="48" name="Google Shape;48;p4"/>
          <p:cNvSpPr/>
          <p:nvPr/>
        </p:nvSpPr>
        <p:spPr>
          <a:xfrm>
            <a:off x="3639312" y="4617720"/>
            <a:ext cx="221284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Great reasoning, but tool use got worse</a:t>
            </a:r>
            <a:endParaRPr b="0" i="0" sz="1200" u="none" cap="none" strike="noStrike">
              <a:solidFill>
                <a:schemeClr val="dk1"/>
              </a:solidFill>
              <a:latin typeface="Calibri"/>
              <a:ea typeface="Calibri"/>
              <a:cs typeface="Calibri"/>
              <a:sym typeface="Calibri"/>
            </a:endParaRPr>
          </a:p>
        </p:txBody>
      </p:sp>
      <p:sp>
        <p:nvSpPr>
          <p:cNvPr id="49" name="Google Shape;49;p4"/>
          <p:cNvSpPr/>
          <p:nvPr/>
        </p:nvSpPr>
        <p:spPr>
          <a:xfrm>
            <a:off x="6217920" y="2514600"/>
            <a:ext cx="2670048" cy="3246120"/>
          </a:xfrm>
          <a:prstGeom prst="roundRect">
            <a:avLst>
              <a:gd fmla="val 274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6492240" y="2788920"/>
            <a:ext cx="731520" cy="731520"/>
          </a:xfrm>
          <a:prstGeom prst="ellipse">
            <a:avLst/>
          </a:prstGeom>
          <a:solidFill>
            <a:srgbClr val="0C1326"/>
          </a:solidFill>
          <a:ln cap="flat" cmpd="sng" w="12700">
            <a:solidFill>
              <a:srgbClr val="2935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4"/>
          <p:cNvPicPr preferRelativeResize="0"/>
          <p:nvPr/>
        </p:nvPicPr>
        <p:blipFill rotWithShape="1">
          <a:blip r:embed="rId5">
            <a:alphaModFix/>
          </a:blip>
          <a:srcRect b="0" l="0" r="0" t="0"/>
          <a:stretch/>
        </p:blipFill>
        <p:spPr>
          <a:xfrm>
            <a:off x="6675120" y="2971800"/>
            <a:ext cx="365760" cy="365760"/>
          </a:xfrm>
          <a:prstGeom prst="rect">
            <a:avLst/>
          </a:prstGeom>
          <a:noFill/>
          <a:ln>
            <a:noFill/>
          </a:ln>
        </p:spPr>
      </p:pic>
      <p:sp>
        <p:nvSpPr>
          <p:cNvPr id="52" name="Google Shape;52;p4"/>
          <p:cNvSpPr/>
          <p:nvPr/>
        </p:nvSpPr>
        <p:spPr>
          <a:xfrm>
            <a:off x="6473952" y="361188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Trebuchet MS"/>
              <a:buNone/>
            </a:pPr>
            <a:r>
              <a:rPr b="1" i="0" lang="en-US" sz="1100" u="none" cap="none" strike="noStrike">
                <a:solidFill>
                  <a:srgbClr val="93A4BC"/>
                </a:solidFill>
                <a:latin typeface="Trebuchet MS"/>
                <a:ea typeface="Trebuchet MS"/>
                <a:cs typeface="Trebuchet MS"/>
                <a:sym typeface="Trebuchet MS"/>
              </a:rPr>
              <a:t>Emerging</a:t>
            </a:r>
            <a:endParaRPr b="0" i="0" sz="1100" u="none" cap="none" strike="noStrike">
              <a:solidFill>
                <a:schemeClr val="dk1"/>
              </a:solidFill>
              <a:latin typeface="Calibri"/>
              <a:ea typeface="Calibri"/>
              <a:cs typeface="Calibri"/>
              <a:sym typeface="Calibri"/>
            </a:endParaRPr>
          </a:p>
        </p:txBody>
      </p:sp>
      <p:sp>
        <p:nvSpPr>
          <p:cNvPr id="53" name="Google Shape;53;p4"/>
          <p:cNvSpPr/>
          <p:nvPr/>
        </p:nvSpPr>
        <p:spPr>
          <a:xfrm>
            <a:off x="6473952" y="3913632"/>
            <a:ext cx="22128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Agentic / tool-augmented</a:t>
            </a:r>
            <a:endParaRPr b="0" i="0" sz="1600" u="none" cap="none" strike="noStrike">
              <a:solidFill>
                <a:schemeClr val="dk1"/>
              </a:solidFill>
              <a:latin typeface="Calibri"/>
              <a:ea typeface="Calibri"/>
              <a:cs typeface="Calibri"/>
              <a:sym typeface="Calibri"/>
            </a:endParaRPr>
          </a:p>
        </p:txBody>
      </p:sp>
      <p:sp>
        <p:nvSpPr>
          <p:cNvPr id="54" name="Google Shape;54;p4"/>
          <p:cNvSpPr/>
          <p:nvPr/>
        </p:nvSpPr>
        <p:spPr>
          <a:xfrm>
            <a:off x="6473952" y="4617720"/>
            <a:ext cx="221284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AutoGPT, CrewAI, LangGraph — mostly cloud demos</a:t>
            </a:r>
            <a:endParaRPr b="0" i="0" sz="1200" u="none" cap="none" strike="noStrike">
              <a:solidFill>
                <a:schemeClr val="dk1"/>
              </a:solidFill>
              <a:latin typeface="Calibri"/>
              <a:ea typeface="Calibri"/>
              <a:cs typeface="Calibri"/>
              <a:sym typeface="Calibri"/>
            </a:endParaRPr>
          </a:p>
        </p:txBody>
      </p:sp>
      <p:sp>
        <p:nvSpPr>
          <p:cNvPr id="55" name="Google Shape;55;p4"/>
          <p:cNvSpPr/>
          <p:nvPr/>
        </p:nvSpPr>
        <p:spPr>
          <a:xfrm>
            <a:off x="9052560" y="2514600"/>
            <a:ext cx="2670048" cy="3246120"/>
          </a:xfrm>
          <a:prstGeom prst="roundRect">
            <a:avLst>
              <a:gd fmla="val 2740"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9052560" y="2514600"/>
            <a:ext cx="2670048" cy="64008"/>
          </a:xfrm>
          <a:prstGeom prst="rect">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9326880" y="2788920"/>
            <a:ext cx="731520" cy="731520"/>
          </a:xfrm>
          <a:prstGeom prst="ellipse">
            <a:avLst/>
          </a:prstGeom>
          <a:solidFill>
            <a:srgbClr val="22D3EE"/>
          </a:solidFill>
          <a:ln cap="flat" cmpd="sng" w="1270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 name="Google Shape;58;p4"/>
          <p:cNvPicPr preferRelativeResize="0"/>
          <p:nvPr/>
        </p:nvPicPr>
        <p:blipFill rotWithShape="1">
          <a:blip r:embed="rId6">
            <a:alphaModFix/>
          </a:blip>
          <a:srcRect b="0" l="0" r="0" t="0"/>
          <a:stretch/>
        </p:blipFill>
        <p:spPr>
          <a:xfrm>
            <a:off x="9509760" y="2971800"/>
            <a:ext cx="365760" cy="365760"/>
          </a:xfrm>
          <a:prstGeom prst="rect">
            <a:avLst/>
          </a:prstGeom>
          <a:noFill/>
          <a:ln>
            <a:noFill/>
          </a:ln>
        </p:spPr>
      </p:pic>
      <p:sp>
        <p:nvSpPr>
          <p:cNvPr id="59" name="Google Shape;59;p4"/>
          <p:cNvSpPr/>
          <p:nvPr/>
        </p:nvSpPr>
        <p:spPr>
          <a:xfrm>
            <a:off x="9308592" y="361188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100"/>
              <a:buFont typeface="Trebuchet MS"/>
              <a:buNone/>
            </a:pPr>
            <a:r>
              <a:rPr b="1" i="0" lang="en-US" sz="1100" u="none" cap="none" strike="noStrike">
                <a:solidFill>
                  <a:srgbClr val="22D3EE"/>
                </a:solidFill>
                <a:latin typeface="Trebuchet MS"/>
                <a:ea typeface="Trebuchet MS"/>
                <a:cs typeface="Trebuchet MS"/>
                <a:sym typeface="Trebuchet MS"/>
              </a:rPr>
              <a:t>This project</a:t>
            </a:r>
            <a:endParaRPr b="0" i="0" sz="1100" u="none" cap="none" strike="noStrike">
              <a:solidFill>
                <a:schemeClr val="dk1"/>
              </a:solidFill>
              <a:latin typeface="Calibri"/>
              <a:ea typeface="Calibri"/>
              <a:cs typeface="Calibri"/>
              <a:sym typeface="Calibri"/>
            </a:endParaRPr>
          </a:p>
        </p:txBody>
      </p:sp>
      <p:sp>
        <p:nvSpPr>
          <p:cNvPr id="60" name="Google Shape;60;p4"/>
          <p:cNvSpPr/>
          <p:nvPr/>
        </p:nvSpPr>
        <p:spPr>
          <a:xfrm>
            <a:off x="9308592" y="3913632"/>
            <a:ext cx="22128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Jarvis</a:t>
            </a:r>
            <a:endParaRPr b="0" i="0" sz="1600" u="none" cap="none" strike="noStrike">
              <a:solidFill>
                <a:schemeClr val="dk1"/>
              </a:solidFill>
              <a:latin typeface="Calibri"/>
              <a:ea typeface="Calibri"/>
              <a:cs typeface="Calibri"/>
              <a:sym typeface="Calibri"/>
            </a:endParaRPr>
          </a:p>
        </p:txBody>
      </p:sp>
      <p:sp>
        <p:nvSpPr>
          <p:cNvPr id="61" name="Google Shape;61;p4"/>
          <p:cNvSpPr/>
          <p:nvPr/>
        </p:nvSpPr>
        <p:spPr>
          <a:xfrm>
            <a:off x="9308592" y="4617720"/>
            <a:ext cx="221284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Runs locally, used daily, tested end to end</a:t>
            </a:r>
            <a:endParaRPr b="0" i="0" sz="1200" u="none" cap="none" strike="noStrike">
              <a:solidFill>
                <a:schemeClr val="dk1"/>
              </a:solidFill>
              <a:latin typeface="Calibri"/>
              <a:ea typeface="Calibri"/>
              <a:cs typeface="Calibri"/>
              <a:sym typeface="Calibri"/>
            </a:endParaRPr>
          </a:p>
        </p:txBody>
      </p:sp>
      <p:sp>
        <p:nvSpPr>
          <p:cNvPr id="62" name="Google Shape;62;p4"/>
          <p:cNvSpPr/>
          <p:nvPr/>
        </p:nvSpPr>
        <p:spPr>
          <a:xfrm>
            <a:off x="548640" y="598932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1500"/>
              <a:buFont typeface="Trebuchet MS"/>
              <a:buNone/>
            </a:pPr>
            <a:r>
              <a:rPr b="1" i="0" lang="en-US" sz="1500" u="none" cap="none" strike="noStrike">
                <a:solidFill>
                  <a:srgbClr val="FBBF24"/>
                </a:solidFill>
                <a:latin typeface="Trebuchet MS"/>
                <a:ea typeface="Trebuchet MS"/>
                <a:cs typeface="Trebuchet MS"/>
                <a:sym typeface="Trebuchet MS"/>
              </a:rPr>
              <a:t>The question driving the whole project:  is the model the limit, or the architecture around 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67" name="Shape 67"/>
        <p:cNvGrpSpPr/>
        <p:nvPr/>
      </p:nvGrpSpPr>
      <p:grpSpPr>
        <a:xfrm>
          <a:off x="0" y="0"/>
          <a:ext cx="0" cy="0"/>
          <a:chOff x="0" y="0"/>
          <a:chExt cx="0" cy="0"/>
        </a:xfrm>
      </p:grpSpPr>
      <p:sp>
        <p:nvSpPr>
          <p:cNvPr id="68" name="Google Shape;68;p5"/>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02</a:t>
            </a:r>
            <a:endParaRPr b="0" i="0" sz="3000" u="none" cap="none" strike="noStrike">
              <a:solidFill>
                <a:schemeClr val="dk1"/>
              </a:solidFill>
              <a:latin typeface="Calibri"/>
              <a:ea typeface="Calibri"/>
              <a:cs typeface="Calibri"/>
              <a:sym typeface="Calibri"/>
            </a:endParaRPr>
          </a:p>
        </p:txBody>
      </p:sp>
      <p:sp>
        <p:nvSpPr>
          <p:cNvPr id="69" name="Google Shape;69;p5"/>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2 · LITERATURE REVIEW — RELATED WORK</a:t>
            </a:r>
            <a:endParaRPr b="0" i="0" sz="1200" u="none" cap="none" strike="noStrike">
              <a:solidFill>
                <a:schemeClr val="dk1"/>
              </a:solidFill>
              <a:latin typeface="Calibri"/>
              <a:ea typeface="Calibri"/>
              <a:cs typeface="Calibri"/>
              <a:sym typeface="Calibri"/>
            </a:endParaRPr>
          </a:p>
        </p:txBody>
      </p:sp>
      <p:sp>
        <p:nvSpPr>
          <p:cNvPr id="70" name="Google Shape;70;p5"/>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Three well-studied fields, one gap between them</a:t>
            </a:r>
            <a:endParaRPr b="0" i="0" sz="3000" u="none" cap="none" strike="noStrike">
              <a:solidFill>
                <a:schemeClr val="dk1"/>
              </a:solidFill>
              <a:latin typeface="Calibri"/>
              <a:ea typeface="Calibri"/>
              <a:cs typeface="Calibri"/>
              <a:sym typeface="Calibri"/>
            </a:endParaRPr>
          </a:p>
        </p:txBody>
      </p:sp>
      <p:sp>
        <p:nvSpPr>
          <p:cNvPr id="71" name="Google Shape;71;p5"/>
          <p:cNvSpPr/>
          <p:nvPr/>
        </p:nvSpPr>
        <p:spPr>
          <a:xfrm>
            <a:off x="548640" y="1554480"/>
            <a:ext cx="3657600" cy="2697480"/>
          </a:xfrm>
          <a:prstGeom prst="roundRect">
            <a:avLst>
              <a:gd fmla="val 2712"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822960" y="1828800"/>
            <a:ext cx="658368" cy="658368"/>
          </a:xfrm>
          <a:prstGeom prst="ellipse">
            <a:avLst/>
          </a:prstGeom>
          <a:solidFill>
            <a:srgbClr val="0C132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5"/>
          <p:cNvPicPr preferRelativeResize="0"/>
          <p:nvPr/>
        </p:nvPicPr>
        <p:blipFill rotWithShape="1">
          <a:blip r:embed="rId3">
            <a:alphaModFix/>
          </a:blip>
          <a:srcRect b="0" l="0" r="0" t="0"/>
          <a:stretch/>
        </p:blipFill>
        <p:spPr>
          <a:xfrm>
            <a:off x="987552" y="1993392"/>
            <a:ext cx="329184" cy="329184"/>
          </a:xfrm>
          <a:prstGeom prst="rect">
            <a:avLst/>
          </a:prstGeom>
          <a:noFill/>
          <a:ln>
            <a:noFill/>
          </a:ln>
        </p:spPr>
      </p:pic>
      <p:sp>
        <p:nvSpPr>
          <p:cNvPr id="74" name="Google Shape;74;p5"/>
          <p:cNvSpPr/>
          <p:nvPr/>
        </p:nvSpPr>
        <p:spPr>
          <a:xfrm>
            <a:off x="822960" y="260604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Reasoning frameworks</a:t>
            </a:r>
            <a:endParaRPr b="0" i="0" sz="1600" u="none" cap="none" strike="noStrike">
              <a:solidFill>
                <a:schemeClr val="dk1"/>
              </a:solidFill>
              <a:latin typeface="Calibri"/>
              <a:ea typeface="Calibri"/>
              <a:cs typeface="Calibri"/>
              <a:sym typeface="Calibri"/>
            </a:endParaRPr>
          </a:p>
        </p:txBody>
      </p:sp>
      <p:sp>
        <p:nvSpPr>
          <p:cNvPr id="75" name="Google Shape;75;p5"/>
          <p:cNvSpPr/>
          <p:nvPr/>
        </p:nvSpPr>
        <p:spPr>
          <a:xfrm>
            <a:off x="822960" y="3017520"/>
            <a:ext cx="31546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Chain-of-Thought, ReAct's reason–act–observe loop, Reflexion's self-critique. The lesson: keep planning separate from doing.</a:t>
            </a:r>
            <a:endParaRPr b="0" i="0" sz="1200" u="none" cap="none" strike="noStrike">
              <a:solidFill>
                <a:schemeClr val="dk1"/>
              </a:solidFill>
              <a:latin typeface="Calibri"/>
              <a:ea typeface="Calibri"/>
              <a:cs typeface="Calibri"/>
              <a:sym typeface="Calibri"/>
            </a:endParaRPr>
          </a:p>
        </p:txBody>
      </p:sp>
      <p:sp>
        <p:nvSpPr>
          <p:cNvPr id="76" name="Google Shape;76;p5"/>
          <p:cNvSpPr/>
          <p:nvPr/>
        </p:nvSpPr>
        <p:spPr>
          <a:xfrm>
            <a:off x="4270248" y="1554480"/>
            <a:ext cx="3657600" cy="2697480"/>
          </a:xfrm>
          <a:prstGeom prst="roundRect">
            <a:avLst>
              <a:gd fmla="val 2712"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4544568" y="1828800"/>
            <a:ext cx="658368" cy="658368"/>
          </a:xfrm>
          <a:prstGeom prst="ellipse">
            <a:avLst/>
          </a:prstGeom>
          <a:solidFill>
            <a:srgbClr val="0C1326"/>
          </a:solidFill>
          <a:ln cap="flat" cmpd="sng" w="190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 name="Google Shape;78;p5"/>
          <p:cNvPicPr preferRelativeResize="0"/>
          <p:nvPr/>
        </p:nvPicPr>
        <p:blipFill rotWithShape="1">
          <a:blip r:embed="rId4">
            <a:alphaModFix/>
          </a:blip>
          <a:srcRect b="0" l="0" r="0" t="0"/>
          <a:stretch/>
        </p:blipFill>
        <p:spPr>
          <a:xfrm>
            <a:off x="4709160" y="1993392"/>
            <a:ext cx="329184" cy="329184"/>
          </a:xfrm>
          <a:prstGeom prst="rect">
            <a:avLst/>
          </a:prstGeom>
          <a:noFill/>
          <a:ln>
            <a:noFill/>
          </a:ln>
        </p:spPr>
      </p:pic>
      <p:sp>
        <p:nvSpPr>
          <p:cNvPr id="79" name="Google Shape;79;p5"/>
          <p:cNvSpPr/>
          <p:nvPr/>
        </p:nvSpPr>
        <p:spPr>
          <a:xfrm>
            <a:off x="4544568" y="260604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Multiagent &amp; tool use</a:t>
            </a:r>
            <a:endParaRPr b="0" i="0" sz="1600" u="none" cap="none" strike="noStrike">
              <a:solidFill>
                <a:schemeClr val="dk1"/>
              </a:solidFill>
              <a:latin typeface="Calibri"/>
              <a:ea typeface="Calibri"/>
              <a:cs typeface="Calibri"/>
              <a:sym typeface="Calibri"/>
            </a:endParaRPr>
          </a:p>
        </p:txBody>
      </p:sp>
      <p:sp>
        <p:nvSpPr>
          <p:cNvPr id="80" name="Google Shape;80;p5"/>
          <p:cNvSpPr/>
          <p:nvPr/>
        </p:nvSpPr>
        <p:spPr>
          <a:xfrm>
            <a:off x="4544568" y="3017520"/>
            <a:ext cx="31546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CrewAI, LangGraph, AutoGen, MetaGPT; tool abstraction (Toolformer, Gorilla). Mostly tested on synthetic, cloud benchmarks.</a:t>
            </a:r>
            <a:endParaRPr b="0" i="0" sz="1200" u="none" cap="none" strike="noStrike">
              <a:solidFill>
                <a:schemeClr val="dk1"/>
              </a:solidFill>
              <a:latin typeface="Calibri"/>
              <a:ea typeface="Calibri"/>
              <a:cs typeface="Calibri"/>
              <a:sym typeface="Calibri"/>
            </a:endParaRPr>
          </a:p>
        </p:txBody>
      </p:sp>
      <p:sp>
        <p:nvSpPr>
          <p:cNvPr id="81" name="Google Shape;81;p5"/>
          <p:cNvSpPr/>
          <p:nvPr/>
        </p:nvSpPr>
        <p:spPr>
          <a:xfrm>
            <a:off x="7991856" y="1554480"/>
            <a:ext cx="3657600" cy="2697480"/>
          </a:xfrm>
          <a:prstGeom prst="roundRect">
            <a:avLst>
              <a:gd fmla="val 2712"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8266176" y="1828800"/>
            <a:ext cx="658368" cy="658368"/>
          </a:xfrm>
          <a:prstGeom prst="ellipse">
            <a:avLst/>
          </a:prstGeom>
          <a:solidFill>
            <a:srgbClr val="0C1326"/>
          </a:solidFill>
          <a:ln cap="flat" cmpd="sng" w="190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 name="Google Shape;83;p5"/>
          <p:cNvPicPr preferRelativeResize="0"/>
          <p:nvPr/>
        </p:nvPicPr>
        <p:blipFill rotWithShape="1">
          <a:blip r:embed="rId5">
            <a:alphaModFix/>
          </a:blip>
          <a:srcRect b="0" l="0" r="0" t="0"/>
          <a:stretch/>
        </p:blipFill>
        <p:spPr>
          <a:xfrm>
            <a:off x="8430768" y="1993392"/>
            <a:ext cx="329184" cy="329184"/>
          </a:xfrm>
          <a:prstGeom prst="rect">
            <a:avLst/>
          </a:prstGeom>
          <a:noFill/>
          <a:ln>
            <a:noFill/>
          </a:ln>
        </p:spPr>
      </p:pic>
      <p:sp>
        <p:nvSpPr>
          <p:cNvPr id="84" name="Google Shape;84;p5"/>
          <p:cNvSpPr/>
          <p:nvPr/>
        </p:nvSpPr>
        <p:spPr>
          <a:xfrm>
            <a:off x="8266176" y="260604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600"/>
              <a:buFont typeface="Trebuchet MS"/>
              <a:buNone/>
            </a:pPr>
            <a:r>
              <a:rPr b="1" i="0" lang="en-US" sz="1600" u="none" cap="none" strike="noStrike">
                <a:solidFill>
                  <a:srgbClr val="E6EDF6"/>
                </a:solidFill>
                <a:latin typeface="Trebuchet MS"/>
                <a:ea typeface="Trebuchet MS"/>
                <a:cs typeface="Trebuchet MS"/>
                <a:sym typeface="Trebuchet MS"/>
              </a:rPr>
              <a:t>Memory-augmented LLMs</a:t>
            </a:r>
            <a:endParaRPr b="0" i="0" sz="1600" u="none" cap="none" strike="noStrike">
              <a:solidFill>
                <a:schemeClr val="dk1"/>
              </a:solidFill>
              <a:latin typeface="Calibri"/>
              <a:ea typeface="Calibri"/>
              <a:cs typeface="Calibri"/>
              <a:sym typeface="Calibri"/>
            </a:endParaRPr>
          </a:p>
        </p:txBody>
      </p:sp>
      <p:sp>
        <p:nvSpPr>
          <p:cNvPr id="85" name="Google Shape;85;p5"/>
          <p:cNvSpPr/>
          <p:nvPr/>
        </p:nvSpPr>
        <p:spPr>
          <a:xfrm>
            <a:off x="8266176" y="3017520"/>
            <a:ext cx="31546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00"/>
              <a:buFont typeface="Calibri"/>
              <a:buNone/>
            </a:pPr>
            <a:r>
              <a:rPr b="0" i="0" lang="en-US" sz="1200" u="none" cap="none" strike="noStrike">
                <a:solidFill>
                  <a:srgbClr val="93A4BC"/>
                </a:solidFill>
                <a:latin typeface="Calibri"/>
                <a:ea typeface="Calibri"/>
                <a:cs typeface="Calibri"/>
                <a:sym typeface="Calibri"/>
              </a:rPr>
              <a:t>RAG (Lewis 2020), semantic vs. episodic memory, MemGPT, Voyager. Vector indexing via HNSW, used by ChromaDB.</a:t>
            </a:r>
            <a:endParaRPr b="0" i="0" sz="1200" u="none" cap="none" strike="noStrike">
              <a:solidFill>
                <a:schemeClr val="dk1"/>
              </a:solidFill>
              <a:latin typeface="Calibri"/>
              <a:ea typeface="Calibri"/>
              <a:cs typeface="Calibri"/>
              <a:sym typeface="Calibri"/>
            </a:endParaRPr>
          </a:p>
        </p:txBody>
      </p:sp>
      <p:sp>
        <p:nvSpPr>
          <p:cNvPr id="86" name="Google Shape;86;p5"/>
          <p:cNvSpPr/>
          <p:nvPr/>
        </p:nvSpPr>
        <p:spPr>
          <a:xfrm>
            <a:off x="548640" y="4434840"/>
            <a:ext cx="11091672" cy="1783080"/>
          </a:xfrm>
          <a:prstGeom prst="roundRect">
            <a:avLst>
              <a:gd fmla="val 4103"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48640" y="4434840"/>
            <a:ext cx="82296" cy="1783080"/>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822960" y="46177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1300"/>
              <a:buFont typeface="Trebuchet MS"/>
              <a:buNone/>
            </a:pPr>
            <a:r>
              <a:rPr b="1" i="0" lang="en-US" sz="1300" u="none" cap="none" strike="noStrike">
                <a:solidFill>
                  <a:srgbClr val="FBBF24"/>
                </a:solidFill>
                <a:latin typeface="Trebuchet MS"/>
                <a:ea typeface="Trebuchet MS"/>
                <a:cs typeface="Trebuchet MS"/>
                <a:sym typeface="Trebuchet MS"/>
              </a:rPr>
              <a:t>THE GAP</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822960" y="493776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450"/>
              <a:buFont typeface="Calibri"/>
              <a:buNone/>
            </a:pPr>
            <a:r>
              <a:rPr b="0" i="0" lang="en-US" sz="1450" u="none" cap="none" strike="noStrike">
                <a:solidFill>
                  <a:srgbClr val="E6EDF6"/>
                </a:solidFill>
                <a:latin typeface="Calibri"/>
                <a:ea typeface="Calibri"/>
                <a:cs typeface="Calibri"/>
                <a:sym typeface="Calibri"/>
              </a:rPr>
              <a:t>Each field is solid on its own. What's missing is someone bringing all three together into an assistant you actually run locally and use every day, with planning, semantic and episodic memory, real tool use and self-checking, and then testing the whole thing properly.</a:t>
            </a:r>
            <a:endParaRPr b="0" i="0" sz="1450" u="none" cap="none" strike="noStrike">
              <a:solidFill>
                <a:schemeClr val="dk1"/>
              </a:solidFill>
              <a:latin typeface="Calibri"/>
              <a:ea typeface="Calibri"/>
              <a:cs typeface="Calibri"/>
              <a:sym typeface="Calibri"/>
            </a:endParaRPr>
          </a:p>
        </p:txBody>
      </p:sp>
      <p:sp>
        <p:nvSpPr>
          <p:cNvPr id="90" name="Google Shape;90;p5"/>
          <p:cNvSpPr/>
          <p:nvPr/>
        </p:nvSpPr>
        <p:spPr>
          <a:xfrm>
            <a:off x="822960" y="5797296"/>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1300"/>
              <a:buFont typeface="Trebuchet MS"/>
              <a:buNone/>
            </a:pPr>
            <a:r>
              <a:rPr b="1" i="1" lang="en-US" sz="1300" u="none" cap="none" strike="noStrike">
                <a:solidFill>
                  <a:srgbClr val="60A5FA"/>
                </a:solidFill>
                <a:latin typeface="Trebuchet MS"/>
                <a:ea typeface="Trebuchet MS"/>
                <a:cs typeface="Trebuchet MS"/>
                <a:sym typeface="Trebuchet MS"/>
              </a:rPr>
              <a:t>No single part of Jarvis is new. Putting them together and evaluating it is the point.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95" name="Shape 95"/>
        <p:cNvGrpSpPr/>
        <p:nvPr/>
      </p:nvGrpSpPr>
      <p:grpSpPr>
        <a:xfrm>
          <a:off x="0" y="0"/>
          <a:ext cx="0" cy="0"/>
          <a:chOff x="0" y="0"/>
          <a:chExt cx="0" cy="0"/>
        </a:xfrm>
      </p:grpSpPr>
      <p:sp>
        <p:nvSpPr>
          <p:cNvPr id="96" name="Google Shape;96;p6"/>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03</a:t>
            </a:r>
            <a:endParaRPr b="0" i="0" sz="3000" u="none" cap="none" strike="noStrike">
              <a:solidFill>
                <a:schemeClr val="dk1"/>
              </a:solidFill>
              <a:latin typeface="Calibri"/>
              <a:ea typeface="Calibri"/>
              <a:cs typeface="Calibri"/>
              <a:sym typeface="Calibri"/>
            </a:endParaRPr>
          </a:p>
        </p:txBody>
      </p:sp>
      <p:sp>
        <p:nvSpPr>
          <p:cNvPr id="97" name="Google Shape;97;p6"/>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3 · AIM, RATIONALE &amp; OBJECTIVES</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What the project set out to prove</a:t>
            </a:r>
            <a:endParaRPr b="0" i="0" sz="3000" u="none" cap="none" strike="noStrike">
              <a:solidFill>
                <a:schemeClr val="dk1"/>
              </a:solidFill>
              <a:latin typeface="Calibri"/>
              <a:ea typeface="Calibri"/>
              <a:cs typeface="Calibri"/>
              <a:sym typeface="Calibri"/>
            </a:endParaRPr>
          </a:p>
        </p:txBody>
      </p:sp>
      <p:sp>
        <p:nvSpPr>
          <p:cNvPr id="99" name="Google Shape;99;p6"/>
          <p:cNvSpPr/>
          <p:nvPr/>
        </p:nvSpPr>
        <p:spPr>
          <a:xfrm>
            <a:off x="548640" y="1554480"/>
            <a:ext cx="4663440" cy="2240280"/>
          </a:xfrm>
          <a:prstGeom prst="roundRect">
            <a:avLst>
              <a:gd fmla="val 3265"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777240" y="1783080"/>
            <a:ext cx="548640" cy="548640"/>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6"/>
          <p:cNvPicPr preferRelativeResize="0"/>
          <p:nvPr/>
        </p:nvPicPr>
        <p:blipFill rotWithShape="1">
          <a:blip r:embed="rId3">
            <a:alphaModFix/>
          </a:blip>
          <a:srcRect b="0" l="0" r="0" t="0"/>
          <a:stretch/>
        </p:blipFill>
        <p:spPr>
          <a:xfrm>
            <a:off x="905256" y="1911096"/>
            <a:ext cx="292608" cy="292608"/>
          </a:xfrm>
          <a:prstGeom prst="rect">
            <a:avLst/>
          </a:prstGeom>
          <a:noFill/>
          <a:ln>
            <a:noFill/>
          </a:ln>
        </p:spPr>
      </p:pic>
      <p:sp>
        <p:nvSpPr>
          <p:cNvPr id="102" name="Google Shape;102;p6"/>
          <p:cNvSpPr/>
          <p:nvPr/>
        </p:nvSpPr>
        <p:spPr>
          <a:xfrm>
            <a:off x="1463040" y="1847088"/>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600"/>
              <a:buFont typeface="Trebuchet MS"/>
              <a:buNone/>
            </a:pPr>
            <a:r>
              <a:rPr b="1" i="0" lang="en-US" sz="1600" u="none" cap="none" strike="noStrike">
                <a:solidFill>
                  <a:srgbClr val="22D3EE"/>
                </a:solidFill>
                <a:latin typeface="Trebuchet MS"/>
                <a:ea typeface="Trebuchet MS"/>
                <a:cs typeface="Trebuchet MS"/>
                <a:sym typeface="Trebuchet MS"/>
              </a:rPr>
              <a:t>AIM</a:t>
            </a:r>
            <a:endParaRPr b="0" i="0" sz="1600" u="none" cap="none" strike="noStrike">
              <a:solidFill>
                <a:schemeClr val="dk1"/>
              </a:solidFill>
              <a:latin typeface="Calibri"/>
              <a:ea typeface="Calibri"/>
              <a:cs typeface="Calibri"/>
              <a:sym typeface="Calibri"/>
            </a:endParaRPr>
          </a:p>
        </p:txBody>
      </p:sp>
      <p:sp>
        <p:nvSpPr>
          <p:cNvPr id="103" name="Google Shape;103;p6"/>
          <p:cNvSpPr/>
          <p:nvPr/>
        </p:nvSpPr>
        <p:spPr>
          <a:xfrm>
            <a:off x="777240" y="2331720"/>
            <a:ext cx="42062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Build and properly evaluate a modular assistant that runs locally, breaks requests into ordered steps, remembers context, carries out real tool actions, and checks its own work, all without sending data to a closed cloud model.</a:t>
            </a:r>
            <a:endParaRPr b="0" i="0" sz="1250" u="none" cap="none" strike="noStrike">
              <a:solidFill>
                <a:schemeClr val="dk1"/>
              </a:solidFill>
              <a:latin typeface="Calibri"/>
              <a:ea typeface="Calibri"/>
              <a:cs typeface="Calibri"/>
              <a:sym typeface="Calibri"/>
            </a:endParaRPr>
          </a:p>
        </p:txBody>
      </p:sp>
      <p:sp>
        <p:nvSpPr>
          <p:cNvPr id="104" name="Google Shape;104;p6"/>
          <p:cNvSpPr/>
          <p:nvPr/>
        </p:nvSpPr>
        <p:spPr>
          <a:xfrm>
            <a:off x="548640" y="3931920"/>
            <a:ext cx="4663440" cy="2286000"/>
          </a:xfrm>
          <a:prstGeom prst="roundRect">
            <a:avLst>
              <a:gd fmla="val 320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777240" y="411480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1300"/>
              <a:buFont typeface="Trebuchet MS"/>
              <a:buNone/>
            </a:pPr>
            <a:r>
              <a:rPr b="1" i="0" lang="en-US" sz="1300" u="none" cap="none" strike="noStrike">
                <a:solidFill>
                  <a:srgbClr val="60A5FA"/>
                </a:solidFill>
                <a:latin typeface="Trebuchet MS"/>
                <a:ea typeface="Trebuchet MS"/>
                <a:cs typeface="Trebuchet MS"/>
                <a:sym typeface="Trebuchet MS"/>
              </a:rPr>
              <a:t>RATIONALE</a:t>
            </a:r>
            <a:endParaRPr b="0" i="0" sz="1300" u="none" cap="none" strike="noStrike">
              <a:solidFill>
                <a:schemeClr val="dk1"/>
              </a:solidFill>
              <a:latin typeface="Calibri"/>
              <a:ea typeface="Calibri"/>
              <a:cs typeface="Calibri"/>
              <a:sym typeface="Calibri"/>
            </a:endParaRPr>
          </a:p>
        </p:txBody>
      </p:sp>
      <p:sp>
        <p:nvSpPr>
          <p:cNvPr id="106" name="Google Shape;106;p6"/>
          <p:cNvSpPr/>
          <p:nvPr/>
        </p:nvSpPr>
        <p:spPr>
          <a:xfrm>
            <a:off x="777240" y="4480560"/>
            <a:ext cx="4251960" cy="16459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3A4BC"/>
              </a:buClr>
              <a:buSzPts val="1200"/>
              <a:buFont typeface="Calibri"/>
              <a:buChar char="•"/>
            </a:pPr>
            <a:r>
              <a:rPr b="0" i="0" lang="en-US" sz="1200" u="none" cap="none" strike="noStrike">
                <a:solidFill>
                  <a:srgbClr val="93A4BC"/>
                </a:solidFill>
                <a:latin typeface="Calibri"/>
                <a:ea typeface="Calibri"/>
                <a:cs typeface="Calibri"/>
                <a:sym typeface="Calibri"/>
              </a:rPr>
              <a:t>Academic: the parts are well studied, but few integrated, daily-use systems get tested end to end.</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3A4BC"/>
              </a:buClr>
              <a:buSzPts val="1200"/>
              <a:buFont typeface="Calibri"/>
              <a:buChar char="•"/>
            </a:pPr>
            <a:r>
              <a:rPr b="0" i="0" lang="en-US" sz="1200" u="none" cap="none" strike="noStrike">
                <a:solidFill>
                  <a:srgbClr val="93A4BC"/>
                </a:solidFill>
                <a:latin typeface="Calibri"/>
                <a:ea typeface="Calibri"/>
                <a:cs typeface="Calibri"/>
                <a:sym typeface="Calibri"/>
              </a:rPr>
              <a:t>Personal: I've used Jarvis as my own assistant for six months, which is where most fixes came from.</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3A4BC"/>
              </a:buClr>
              <a:buSzPts val="1200"/>
              <a:buFont typeface="Calibri"/>
              <a:buChar char="•"/>
            </a:pPr>
            <a:r>
              <a:rPr b="0" i="0" lang="en-US" sz="1200" u="none" cap="none" strike="noStrike">
                <a:solidFill>
                  <a:srgbClr val="93A4BC"/>
                </a:solidFill>
                <a:latin typeface="Calibri"/>
                <a:ea typeface="Calibri"/>
                <a:cs typeface="Calibri"/>
                <a:sym typeface="Calibri"/>
              </a:rPr>
              <a:t>Supervisor feedback turned the evaluation into a multi-model, multi-tier study.</a:t>
            </a:r>
            <a:endParaRPr b="0" i="0" sz="1200" u="none" cap="none" strike="noStrike">
              <a:solidFill>
                <a:schemeClr val="dk1"/>
              </a:solidFill>
              <a:latin typeface="Calibri"/>
              <a:ea typeface="Calibri"/>
              <a:cs typeface="Calibri"/>
              <a:sym typeface="Calibri"/>
            </a:endParaRPr>
          </a:p>
        </p:txBody>
      </p:sp>
      <p:sp>
        <p:nvSpPr>
          <p:cNvPr id="107" name="Google Shape;107;p6"/>
          <p:cNvSpPr/>
          <p:nvPr/>
        </p:nvSpPr>
        <p:spPr>
          <a:xfrm>
            <a:off x="5532120" y="1572768"/>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300"/>
              <a:buFont typeface="Trebuchet MS"/>
              <a:buNone/>
            </a:pPr>
            <a:r>
              <a:rPr b="1" i="0" lang="en-US" sz="1300" u="none" cap="none" strike="noStrike">
                <a:solidFill>
                  <a:srgbClr val="22D3EE"/>
                </a:solidFill>
                <a:latin typeface="Trebuchet MS"/>
                <a:ea typeface="Trebuchet MS"/>
                <a:cs typeface="Trebuchet MS"/>
                <a:sym typeface="Trebuchet MS"/>
              </a:rPr>
              <a:t>SEVEN OBJECTIVES</a:t>
            </a:r>
            <a:endParaRPr b="0" i="0" sz="1300" u="none" cap="none" strike="noStrike">
              <a:solidFill>
                <a:schemeClr val="dk1"/>
              </a:solidFill>
              <a:latin typeface="Calibri"/>
              <a:ea typeface="Calibri"/>
              <a:cs typeface="Calibri"/>
              <a:sym typeface="Calibri"/>
            </a:endParaRPr>
          </a:p>
        </p:txBody>
      </p:sp>
      <p:sp>
        <p:nvSpPr>
          <p:cNvPr id="108" name="Google Shape;108;p6"/>
          <p:cNvSpPr/>
          <p:nvPr/>
        </p:nvSpPr>
        <p:spPr>
          <a:xfrm>
            <a:off x="5532120" y="1993392"/>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5532120" y="19933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1</a:t>
            </a:r>
            <a:endParaRPr b="0" i="0" sz="1400" u="none" cap="none" strike="noStrike">
              <a:solidFill>
                <a:schemeClr val="dk1"/>
              </a:solidFill>
              <a:latin typeface="Calibri"/>
              <a:ea typeface="Calibri"/>
              <a:cs typeface="Calibri"/>
              <a:sym typeface="Calibri"/>
            </a:endParaRPr>
          </a:p>
        </p:txBody>
      </p:sp>
      <p:sp>
        <p:nvSpPr>
          <p:cNvPr id="110" name="Google Shape;110;p6"/>
          <p:cNvSpPr/>
          <p:nvPr/>
        </p:nvSpPr>
        <p:spPr>
          <a:xfrm>
            <a:off x="6053328" y="1956816"/>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Split routing, planning, memory, criticism, execution &amp; evaluation into separate agents</a:t>
            </a:r>
            <a:endParaRPr b="0" i="0" sz="1250" u="none" cap="none" strike="noStrike">
              <a:solidFill>
                <a:schemeClr val="dk1"/>
              </a:solidFill>
              <a:latin typeface="Calibri"/>
              <a:ea typeface="Calibri"/>
              <a:cs typeface="Calibri"/>
              <a:sym typeface="Calibri"/>
            </a:endParaRPr>
          </a:p>
        </p:txBody>
      </p:sp>
      <p:sp>
        <p:nvSpPr>
          <p:cNvPr id="111" name="Google Shape;111;p6"/>
          <p:cNvSpPr/>
          <p:nvPr/>
        </p:nvSpPr>
        <p:spPr>
          <a:xfrm>
            <a:off x="5532120" y="2596896"/>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5532120" y="25968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2</a:t>
            </a:r>
            <a:endParaRPr b="0" i="0" sz="1400" u="none" cap="none" strike="noStrike">
              <a:solidFill>
                <a:schemeClr val="dk1"/>
              </a:solidFill>
              <a:latin typeface="Calibri"/>
              <a:ea typeface="Calibri"/>
              <a:cs typeface="Calibri"/>
              <a:sym typeface="Calibri"/>
            </a:endParaRPr>
          </a:p>
        </p:txBody>
      </p:sp>
      <p:sp>
        <p:nvSpPr>
          <p:cNvPr id="113" name="Google Shape;113;p6"/>
          <p:cNvSpPr/>
          <p:nvPr/>
        </p:nvSpPr>
        <p:spPr>
          <a:xfrm>
            <a:off x="6053328" y="2560320"/>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Break complex requests into dependency-aware JSON plans (DAGs)</a:t>
            </a:r>
            <a:endParaRPr b="0" i="0" sz="1250" u="none" cap="none" strike="noStrike">
              <a:solidFill>
                <a:schemeClr val="dk1"/>
              </a:solidFill>
              <a:latin typeface="Calibri"/>
              <a:ea typeface="Calibri"/>
              <a:cs typeface="Calibri"/>
              <a:sym typeface="Calibri"/>
            </a:endParaRPr>
          </a:p>
        </p:txBody>
      </p:sp>
      <p:sp>
        <p:nvSpPr>
          <p:cNvPr id="114" name="Google Shape;114;p6"/>
          <p:cNvSpPr/>
          <p:nvPr/>
        </p:nvSpPr>
        <p:spPr>
          <a:xfrm>
            <a:off x="5532120" y="3200400"/>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5532120" y="32004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3</a:t>
            </a:r>
            <a:endParaRPr b="0" i="0" sz="1400" u="none" cap="none" strike="noStrike">
              <a:solidFill>
                <a:schemeClr val="dk1"/>
              </a:solidFill>
              <a:latin typeface="Calibri"/>
              <a:ea typeface="Calibri"/>
              <a:cs typeface="Calibri"/>
              <a:sym typeface="Calibri"/>
            </a:endParaRPr>
          </a:p>
        </p:txBody>
      </p:sp>
      <p:sp>
        <p:nvSpPr>
          <p:cNvPr id="116" name="Google Shape;116;p6"/>
          <p:cNvSpPr/>
          <p:nvPr/>
        </p:nvSpPr>
        <p:spPr>
          <a:xfrm>
            <a:off x="6053328" y="3163824"/>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Keep persistent semantic + episodic memory using vector embeddings</a:t>
            </a:r>
            <a:endParaRPr b="0" i="0" sz="1250" u="none" cap="none" strike="noStrike">
              <a:solidFill>
                <a:schemeClr val="dk1"/>
              </a:solidFill>
              <a:latin typeface="Calibri"/>
              <a:ea typeface="Calibri"/>
              <a:cs typeface="Calibri"/>
              <a:sym typeface="Calibri"/>
            </a:endParaRPr>
          </a:p>
        </p:txBody>
      </p:sp>
      <p:sp>
        <p:nvSpPr>
          <p:cNvPr id="117" name="Google Shape;117;p6"/>
          <p:cNvSpPr/>
          <p:nvPr/>
        </p:nvSpPr>
        <p:spPr>
          <a:xfrm>
            <a:off x="5532120" y="3803904"/>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5532120" y="380390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4</a:t>
            </a:r>
            <a:endParaRPr b="0" i="0" sz="1400" u="none" cap="none" strike="noStrike">
              <a:solidFill>
                <a:schemeClr val="dk1"/>
              </a:solidFill>
              <a:latin typeface="Calibri"/>
              <a:ea typeface="Calibri"/>
              <a:cs typeface="Calibri"/>
              <a:sym typeface="Calibri"/>
            </a:endParaRPr>
          </a:p>
        </p:txBody>
      </p:sp>
      <p:sp>
        <p:nvSpPr>
          <p:cNvPr id="119" name="Google Shape;119;p6"/>
          <p:cNvSpPr/>
          <p:nvPr/>
        </p:nvSpPr>
        <p:spPr>
          <a:xfrm>
            <a:off x="6053328" y="3767328"/>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Connect authenticated external services through one tool layer</a:t>
            </a:r>
            <a:endParaRPr b="0" i="0" sz="1250" u="none" cap="none" strike="noStrike">
              <a:solidFill>
                <a:schemeClr val="dk1"/>
              </a:solidFill>
              <a:latin typeface="Calibri"/>
              <a:ea typeface="Calibri"/>
              <a:cs typeface="Calibri"/>
              <a:sym typeface="Calibri"/>
            </a:endParaRPr>
          </a:p>
        </p:txBody>
      </p:sp>
      <p:sp>
        <p:nvSpPr>
          <p:cNvPr id="120" name="Google Shape;120;p6"/>
          <p:cNvSpPr/>
          <p:nvPr/>
        </p:nvSpPr>
        <p:spPr>
          <a:xfrm>
            <a:off x="5532120" y="4407408"/>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5532120" y="44074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5</a:t>
            </a:r>
            <a:endParaRPr b="0" i="0" sz="1400" u="none" cap="none" strike="noStrike">
              <a:solidFill>
                <a:schemeClr val="dk1"/>
              </a:solidFill>
              <a:latin typeface="Calibri"/>
              <a:ea typeface="Calibri"/>
              <a:cs typeface="Calibri"/>
              <a:sym typeface="Calibri"/>
            </a:endParaRPr>
          </a:p>
        </p:txBody>
      </p:sp>
      <p:sp>
        <p:nvSpPr>
          <p:cNvPr id="122" name="Google Shape;122;p6"/>
          <p:cNvSpPr/>
          <p:nvPr/>
        </p:nvSpPr>
        <p:spPr>
          <a:xfrm>
            <a:off x="6053328" y="4370832"/>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Add a critic-driven replanning loop for self-review</a:t>
            </a:r>
            <a:endParaRPr b="0" i="0" sz="1250" u="none" cap="none" strike="noStrike">
              <a:solidFill>
                <a:schemeClr val="dk1"/>
              </a:solidFill>
              <a:latin typeface="Calibri"/>
              <a:ea typeface="Calibri"/>
              <a:cs typeface="Calibri"/>
              <a:sym typeface="Calibri"/>
            </a:endParaRPr>
          </a:p>
        </p:txBody>
      </p:sp>
      <p:sp>
        <p:nvSpPr>
          <p:cNvPr id="123" name="Google Shape;123;p6"/>
          <p:cNvSpPr/>
          <p:nvPr/>
        </p:nvSpPr>
        <p:spPr>
          <a:xfrm>
            <a:off x="5532120" y="5010912"/>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5532120" y="501091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6</a:t>
            </a:r>
            <a:endParaRPr b="0" i="0" sz="1400" u="none" cap="none" strike="noStrike">
              <a:solidFill>
                <a:schemeClr val="dk1"/>
              </a:solidFill>
              <a:latin typeface="Calibri"/>
              <a:ea typeface="Calibri"/>
              <a:cs typeface="Calibri"/>
              <a:sym typeface="Calibri"/>
            </a:endParaRPr>
          </a:p>
        </p:txBody>
      </p:sp>
      <p:sp>
        <p:nvSpPr>
          <p:cNvPr id="125" name="Google Shape;125;p6"/>
          <p:cNvSpPr/>
          <p:nvPr/>
        </p:nvSpPr>
        <p:spPr>
          <a:xfrm>
            <a:off x="6053328" y="4974336"/>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Build a hybrid voice interface for hands-free use</a:t>
            </a:r>
            <a:endParaRPr b="0" i="0" sz="1250" u="none" cap="none" strike="noStrike">
              <a:solidFill>
                <a:schemeClr val="dk1"/>
              </a:solidFill>
              <a:latin typeface="Calibri"/>
              <a:ea typeface="Calibri"/>
              <a:cs typeface="Calibri"/>
              <a:sym typeface="Calibri"/>
            </a:endParaRPr>
          </a:p>
        </p:txBody>
      </p:sp>
      <p:sp>
        <p:nvSpPr>
          <p:cNvPr id="126" name="Google Shape;126;p6"/>
          <p:cNvSpPr/>
          <p:nvPr/>
        </p:nvSpPr>
        <p:spPr>
          <a:xfrm>
            <a:off x="5532120" y="5614416"/>
            <a:ext cx="384048" cy="384048"/>
          </a:xfrm>
          <a:prstGeom prst="ellipse">
            <a:avLst/>
          </a:prstGeom>
          <a:solidFill>
            <a:srgbClr val="0C1326"/>
          </a:solidFill>
          <a:ln cap="flat" cmpd="sng" w="152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532120" y="56144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7</a:t>
            </a:r>
            <a:endParaRPr b="0" i="0" sz="1400" u="none" cap="none" strike="noStrike">
              <a:solidFill>
                <a:schemeClr val="dk1"/>
              </a:solidFill>
              <a:latin typeface="Calibri"/>
              <a:ea typeface="Calibri"/>
              <a:cs typeface="Calibri"/>
              <a:sym typeface="Calibri"/>
            </a:endParaRPr>
          </a:p>
        </p:txBody>
      </p:sp>
      <p:sp>
        <p:nvSpPr>
          <p:cNvPr id="128" name="Google Shape;128;p6"/>
          <p:cNvSpPr/>
          <p:nvPr/>
        </p:nvSpPr>
        <p:spPr>
          <a:xfrm>
            <a:off x="6053328" y="5577840"/>
            <a:ext cx="5577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Calibri"/>
              <a:buNone/>
            </a:pPr>
            <a:r>
              <a:rPr b="0" i="0" lang="en-US" sz="1250" u="none" cap="none" strike="noStrike">
                <a:solidFill>
                  <a:srgbClr val="E6EDF6"/>
                </a:solidFill>
                <a:latin typeface="Calibri"/>
                <a:ea typeface="Calibri"/>
                <a:cs typeface="Calibri"/>
                <a:sym typeface="Calibri"/>
              </a:rPr>
              <a:t>Test across several local models on quality, success, latency and replans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133" name="Shape 133"/>
        <p:cNvGrpSpPr/>
        <p:nvPr/>
      </p:nvGrpSpPr>
      <p:grpSpPr>
        <a:xfrm>
          <a:off x="0" y="0"/>
          <a:ext cx="0" cy="0"/>
          <a:chOff x="0" y="0"/>
          <a:chExt cx="0" cy="0"/>
        </a:xfrm>
      </p:grpSpPr>
      <p:sp>
        <p:nvSpPr>
          <p:cNvPr id="134" name="Google Shape;134;p7"/>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04</a:t>
            </a:r>
            <a:endParaRPr b="0" i="0" sz="3000" u="none" cap="none" strike="noStrike">
              <a:solidFill>
                <a:schemeClr val="dk1"/>
              </a:solidFill>
              <a:latin typeface="Calibri"/>
              <a:ea typeface="Calibri"/>
              <a:cs typeface="Calibri"/>
              <a:sym typeface="Calibri"/>
            </a:endParaRPr>
          </a:p>
        </p:txBody>
      </p:sp>
      <p:sp>
        <p:nvSpPr>
          <p:cNvPr id="135" name="Google Shape;135;p7"/>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4 · METHODOLOGY, ETHICS &amp; RISK</a:t>
            </a:r>
            <a:endParaRPr b="0" i="0" sz="1200" u="none" cap="none" strike="noStrike">
              <a:solidFill>
                <a:schemeClr val="dk1"/>
              </a:solidFill>
              <a:latin typeface="Calibri"/>
              <a:ea typeface="Calibri"/>
              <a:cs typeface="Calibri"/>
              <a:sym typeface="Calibri"/>
            </a:endParaRPr>
          </a:p>
        </p:txBody>
      </p:sp>
      <p:sp>
        <p:nvSpPr>
          <p:cNvPr id="136" name="Google Shape;136;p7"/>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Studying the system by building it</a:t>
            </a:r>
            <a:endParaRPr b="0" i="0" sz="3000" u="none" cap="none" strike="noStrike">
              <a:solidFill>
                <a:schemeClr val="dk1"/>
              </a:solidFill>
              <a:latin typeface="Calibri"/>
              <a:ea typeface="Calibri"/>
              <a:cs typeface="Calibri"/>
              <a:sym typeface="Calibri"/>
            </a:endParaRPr>
          </a:p>
        </p:txBody>
      </p:sp>
      <p:sp>
        <p:nvSpPr>
          <p:cNvPr id="137" name="Google Shape;137;p7"/>
          <p:cNvSpPr/>
          <p:nvPr/>
        </p:nvSpPr>
        <p:spPr>
          <a:xfrm>
            <a:off x="548640" y="1517904"/>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300"/>
              <a:buFont typeface="Trebuchet MS"/>
              <a:buNone/>
            </a:pPr>
            <a:r>
              <a:rPr b="1" i="0" lang="en-US" sz="1300" u="none" cap="none" strike="noStrike">
                <a:solidFill>
                  <a:srgbClr val="22D3EE"/>
                </a:solidFill>
                <a:latin typeface="Trebuchet MS"/>
                <a:ea typeface="Trebuchet MS"/>
                <a:cs typeface="Trebuchet MS"/>
                <a:sym typeface="Trebuchet MS"/>
              </a:rPr>
              <a:t>DESIGN SCIENCE RESEARCH CYCLE</a:t>
            </a:r>
            <a:endParaRPr b="0" i="0" sz="1300" u="none" cap="none" strike="noStrike">
              <a:solidFill>
                <a:schemeClr val="dk1"/>
              </a:solidFill>
              <a:latin typeface="Calibri"/>
              <a:ea typeface="Calibri"/>
              <a:cs typeface="Calibri"/>
              <a:sym typeface="Calibri"/>
            </a:endParaRPr>
          </a:p>
        </p:txBody>
      </p:sp>
      <p:sp>
        <p:nvSpPr>
          <p:cNvPr id="138" name="Google Shape;138;p7"/>
          <p:cNvSpPr/>
          <p:nvPr/>
        </p:nvSpPr>
        <p:spPr>
          <a:xfrm>
            <a:off x="548640" y="1938528"/>
            <a:ext cx="5029200" cy="512064"/>
          </a:xfrm>
          <a:prstGeom prst="roundRect">
            <a:avLst>
              <a:gd fmla="val 1428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676656" y="2020824"/>
            <a:ext cx="347472" cy="347472"/>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676656" y="202082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F1E"/>
              </a:buClr>
              <a:buSzPts val="1300"/>
              <a:buFont typeface="Trebuchet MS"/>
              <a:buNone/>
            </a:pPr>
            <a:r>
              <a:rPr b="1" i="0" lang="en-US" sz="1300" u="none" cap="none" strike="noStrike">
                <a:solidFill>
                  <a:srgbClr val="0A0F1E"/>
                </a:solidFill>
                <a:latin typeface="Trebuchet MS"/>
                <a:ea typeface="Trebuchet MS"/>
                <a:cs typeface="Trebuchet MS"/>
                <a:sym typeface="Trebuchet MS"/>
              </a:rPr>
              <a:t>1</a:t>
            </a:r>
            <a:endParaRPr b="0" i="0" sz="1300" u="none" cap="none" strike="noStrike">
              <a:solidFill>
                <a:schemeClr val="dk1"/>
              </a:solidFill>
              <a:latin typeface="Calibri"/>
              <a:ea typeface="Calibri"/>
              <a:cs typeface="Calibri"/>
              <a:sym typeface="Calibri"/>
            </a:endParaRPr>
          </a:p>
        </p:txBody>
      </p:sp>
      <p:sp>
        <p:nvSpPr>
          <p:cNvPr id="141" name="Google Shape;141;p7"/>
          <p:cNvSpPr/>
          <p:nvPr/>
        </p:nvSpPr>
        <p:spPr>
          <a:xfrm>
            <a:off x="1143000" y="1938528"/>
            <a:ext cx="42976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Calibri"/>
              <a:buNone/>
            </a:pPr>
            <a:r>
              <a:rPr b="0" i="0" lang="en-US" sz="1300" u="none" cap="none" strike="noStrike">
                <a:solidFill>
                  <a:srgbClr val="E6EDF6"/>
                </a:solidFill>
                <a:latin typeface="Calibri"/>
                <a:ea typeface="Calibri"/>
                <a:cs typeface="Calibri"/>
                <a:sym typeface="Calibri"/>
              </a:rPr>
              <a:t>Problem identification</a:t>
            </a:r>
            <a:endParaRPr b="0" i="0" sz="1300" u="none" cap="none" strike="noStrike">
              <a:solidFill>
                <a:schemeClr val="dk1"/>
              </a:solidFill>
              <a:latin typeface="Calibri"/>
              <a:ea typeface="Calibri"/>
              <a:cs typeface="Calibri"/>
              <a:sym typeface="Calibri"/>
            </a:endParaRPr>
          </a:p>
        </p:txBody>
      </p:sp>
      <p:sp>
        <p:nvSpPr>
          <p:cNvPr id="142" name="Google Shape;142;p7"/>
          <p:cNvSpPr/>
          <p:nvPr/>
        </p:nvSpPr>
        <p:spPr>
          <a:xfrm>
            <a:off x="548640" y="2578608"/>
            <a:ext cx="5029200" cy="512064"/>
          </a:xfrm>
          <a:prstGeom prst="roundRect">
            <a:avLst>
              <a:gd fmla="val 1428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676656" y="2660904"/>
            <a:ext cx="347472" cy="347472"/>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676656" y="26609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F1E"/>
              </a:buClr>
              <a:buSzPts val="1300"/>
              <a:buFont typeface="Trebuchet MS"/>
              <a:buNone/>
            </a:pPr>
            <a:r>
              <a:rPr b="1" i="0" lang="en-US" sz="1300" u="none" cap="none" strike="noStrike">
                <a:solidFill>
                  <a:srgbClr val="0A0F1E"/>
                </a:solidFill>
                <a:latin typeface="Trebuchet MS"/>
                <a:ea typeface="Trebuchet MS"/>
                <a:cs typeface="Trebuchet MS"/>
                <a:sym typeface="Trebuchet MS"/>
              </a:rPr>
              <a:t>2</a:t>
            </a:r>
            <a:endParaRPr b="0" i="0" sz="1300" u="none" cap="none" strike="noStrike">
              <a:solidFill>
                <a:schemeClr val="dk1"/>
              </a:solidFill>
              <a:latin typeface="Calibri"/>
              <a:ea typeface="Calibri"/>
              <a:cs typeface="Calibri"/>
              <a:sym typeface="Calibri"/>
            </a:endParaRPr>
          </a:p>
        </p:txBody>
      </p:sp>
      <p:sp>
        <p:nvSpPr>
          <p:cNvPr id="145" name="Google Shape;145;p7"/>
          <p:cNvSpPr/>
          <p:nvPr/>
        </p:nvSpPr>
        <p:spPr>
          <a:xfrm>
            <a:off x="1143000" y="2578608"/>
            <a:ext cx="42976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Calibri"/>
              <a:buNone/>
            </a:pPr>
            <a:r>
              <a:rPr b="0" i="0" lang="en-US" sz="1300" u="none" cap="none" strike="noStrike">
                <a:solidFill>
                  <a:srgbClr val="E6EDF6"/>
                </a:solidFill>
                <a:latin typeface="Calibri"/>
                <a:ea typeface="Calibri"/>
                <a:cs typeface="Calibri"/>
                <a:sym typeface="Calibri"/>
              </a:rPr>
              <a:t>Artefact design</a:t>
            </a:r>
            <a:endParaRPr b="0" i="0" sz="1300" u="none" cap="none" strike="noStrike">
              <a:solidFill>
                <a:schemeClr val="dk1"/>
              </a:solidFill>
              <a:latin typeface="Calibri"/>
              <a:ea typeface="Calibri"/>
              <a:cs typeface="Calibri"/>
              <a:sym typeface="Calibri"/>
            </a:endParaRPr>
          </a:p>
        </p:txBody>
      </p:sp>
      <p:sp>
        <p:nvSpPr>
          <p:cNvPr id="146" name="Google Shape;146;p7"/>
          <p:cNvSpPr/>
          <p:nvPr/>
        </p:nvSpPr>
        <p:spPr>
          <a:xfrm>
            <a:off x="548640" y="3218688"/>
            <a:ext cx="5029200" cy="512064"/>
          </a:xfrm>
          <a:prstGeom prst="roundRect">
            <a:avLst>
              <a:gd fmla="val 1428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676656" y="3300984"/>
            <a:ext cx="347472" cy="347472"/>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676656" y="330098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F1E"/>
              </a:buClr>
              <a:buSzPts val="1300"/>
              <a:buFont typeface="Trebuchet MS"/>
              <a:buNone/>
            </a:pPr>
            <a:r>
              <a:rPr b="1" i="0" lang="en-US" sz="1300" u="none" cap="none" strike="noStrike">
                <a:solidFill>
                  <a:srgbClr val="0A0F1E"/>
                </a:solidFill>
                <a:latin typeface="Trebuchet MS"/>
                <a:ea typeface="Trebuchet MS"/>
                <a:cs typeface="Trebuchet MS"/>
                <a:sym typeface="Trebuchet MS"/>
              </a:rPr>
              <a:t>3</a:t>
            </a:r>
            <a:endParaRPr b="0" i="0" sz="1300" u="none" cap="none" strike="noStrike">
              <a:solidFill>
                <a:schemeClr val="dk1"/>
              </a:solidFill>
              <a:latin typeface="Calibri"/>
              <a:ea typeface="Calibri"/>
              <a:cs typeface="Calibri"/>
              <a:sym typeface="Calibri"/>
            </a:endParaRPr>
          </a:p>
        </p:txBody>
      </p:sp>
      <p:sp>
        <p:nvSpPr>
          <p:cNvPr id="149" name="Google Shape;149;p7"/>
          <p:cNvSpPr/>
          <p:nvPr/>
        </p:nvSpPr>
        <p:spPr>
          <a:xfrm>
            <a:off x="1143000" y="3218688"/>
            <a:ext cx="42976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Calibri"/>
              <a:buNone/>
            </a:pPr>
            <a:r>
              <a:rPr b="0" i="0" lang="en-US" sz="1300" u="none" cap="none" strike="noStrike">
                <a:solidFill>
                  <a:srgbClr val="E6EDF6"/>
                </a:solidFill>
                <a:latin typeface="Calibri"/>
                <a:ea typeface="Calibri"/>
                <a:cs typeface="Calibri"/>
                <a:sym typeface="Calibri"/>
              </a:rPr>
              <a:t>Implementation</a:t>
            </a:r>
            <a:endParaRPr b="0" i="0" sz="1300" u="none" cap="none" strike="noStrike">
              <a:solidFill>
                <a:schemeClr val="dk1"/>
              </a:solidFill>
              <a:latin typeface="Calibri"/>
              <a:ea typeface="Calibri"/>
              <a:cs typeface="Calibri"/>
              <a:sym typeface="Calibri"/>
            </a:endParaRPr>
          </a:p>
        </p:txBody>
      </p:sp>
      <p:sp>
        <p:nvSpPr>
          <p:cNvPr id="150" name="Google Shape;150;p7"/>
          <p:cNvSpPr/>
          <p:nvPr/>
        </p:nvSpPr>
        <p:spPr>
          <a:xfrm>
            <a:off x="548640" y="3858768"/>
            <a:ext cx="5029200" cy="512064"/>
          </a:xfrm>
          <a:prstGeom prst="roundRect">
            <a:avLst>
              <a:gd fmla="val 14286"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676656" y="3941064"/>
            <a:ext cx="347472" cy="347472"/>
          </a:xfrm>
          <a:prstGeom prst="ellipse">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676656" y="394106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F1E"/>
              </a:buClr>
              <a:buSzPts val="1300"/>
              <a:buFont typeface="Trebuchet MS"/>
              <a:buNone/>
            </a:pPr>
            <a:r>
              <a:rPr b="1" i="0" lang="en-US" sz="1300" u="none" cap="none" strike="noStrike">
                <a:solidFill>
                  <a:srgbClr val="0A0F1E"/>
                </a:solidFill>
                <a:latin typeface="Trebuchet MS"/>
                <a:ea typeface="Trebuchet MS"/>
                <a:cs typeface="Trebuchet MS"/>
                <a:sym typeface="Trebuchet MS"/>
              </a:rPr>
              <a:t>4</a:t>
            </a:r>
            <a:endParaRPr b="0" i="0" sz="1300" u="none" cap="none" strike="noStrike">
              <a:solidFill>
                <a:schemeClr val="dk1"/>
              </a:solidFill>
              <a:latin typeface="Calibri"/>
              <a:ea typeface="Calibri"/>
              <a:cs typeface="Calibri"/>
              <a:sym typeface="Calibri"/>
            </a:endParaRPr>
          </a:p>
        </p:txBody>
      </p:sp>
      <p:sp>
        <p:nvSpPr>
          <p:cNvPr id="153" name="Google Shape;153;p7"/>
          <p:cNvSpPr/>
          <p:nvPr/>
        </p:nvSpPr>
        <p:spPr>
          <a:xfrm>
            <a:off x="1143000" y="3858768"/>
            <a:ext cx="42976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Calibri"/>
              <a:buNone/>
            </a:pPr>
            <a:r>
              <a:rPr b="1" i="0" lang="en-US" sz="1300" u="none" cap="none" strike="noStrike">
                <a:solidFill>
                  <a:srgbClr val="E6EDF6"/>
                </a:solidFill>
                <a:latin typeface="Calibri"/>
                <a:ea typeface="Calibri"/>
                <a:cs typeface="Calibri"/>
                <a:sym typeface="Calibri"/>
              </a:rPr>
              <a:t>Evaluation (evidence each cycle)</a:t>
            </a:r>
            <a:endParaRPr b="0" i="0" sz="1300" u="none" cap="none" strike="noStrike">
              <a:solidFill>
                <a:schemeClr val="dk1"/>
              </a:solidFill>
              <a:latin typeface="Calibri"/>
              <a:ea typeface="Calibri"/>
              <a:cs typeface="Calibri"/>
              <a:sym typeface="Calibri"/>
            </a:endParaRPr>
          </a:p>
        </p:txBody>
      </p:sp>
      <p:sp>
        <p:nvSpPr>
          <p:cNvPr id="154" name="Google Shape;154;p7"/>
          <p:cNvSpPr/>
          <p:nvPr/>
        </p:nvSpPr>
        <p:spPr>
          <a:xfrm>
            <a:off x="548640" y="4498848"/>
            <a:ext cx="5029200" cy="512064"/>
          </a:xfrm>
          <a:prstGeom prst="roundRect">
            <a:avLst>
              <a:gd fmla="val 1428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676656" y="4581144"/>
            <a:ext cx="347472" cy="347472"/>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676656" y="458114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F1E"/>
              </a:buClr>
              <a:buSzPts val="1300"/>
              <a:buFont typeface="Trebuchet MS"/>
              <a:buNone/>
            </a:pPr>
            <a:r>
              <a:rPr b="1" i="0" lang="en-US" sz="1300" u="none" cap="none" strike="noStrike">
                <a:solidFill>
                  <a:srgbClr val="0A0F1E"/>
                </a:solidFill>
                <a:latin typeface="Trebuchet MS"/>
                <a:ea typeface="Trebuchet MS"/>
                <a:cs typeface="Trebuchet MS"/>
                <a:sym typeface="Trebuchet MS"/>
              </a:rPr>
              <a:t>5</a:t>
            </a:r>
            <a:endParaRPr b="0" i="0" sz="1300" u="none" cap="none" strike="noStrike">
              <a:solidFill>
                <a:schemeClr val="dk1"/>
              </a:solidFill>
              <a:latin typeface="Calibri"/>
              <a:ea typeface="Calibri"/>
              <a:cs typeface="Calibri"/>
              <a:sym typeface="Calibri"/>
            </a:endParaRPr>
          </a:p>
        </p:txBody>
      </p:sp>
      <p:sp>
        <p:nvSpPr>
          <p:cNvPr id="157" name="Google Shape;157;p7"/>
          <p:cNvSpPr/>
          <p:nvPr/>
        </p:nvSpPr>
        <p:spPr>
          <a:xfrm>
            <a:off x="1143000" y="4498848"/>
            <a:ext cx="42976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Calibri"/>
              <a:buNone/>
            </a:pPr>
            <a:r>
              <a:rPr b="0" i="0" lang="en-US" sz="1300" u="none" cap="none" strike="noStrike">
                <a:solidFill>
                  <a:srgbClr val="E6EDF6"/>
                </a:solidFill>
                <a:latin typeface="Calibri"/>
                <a:ea typeface="Calibri"/>
                <a:cs typeface="Calibri"/>
                <a:sym typeface="Calibri"/>
              </a:rPr>
              <a:t>Refinement → next iteration</a:t>
            </a:r>
            <a:endParaRPr b="0" i="0" sz="1300" u="none" cap="none" strike="noStrike">
              <a:solidFill>
                <a:schemeClr val="dk1"/>
              </a:solidFill>
              <a:latin typeface="Calibri"/>
              <a:ea typeface="Calibri"/>
              <a:cs typeface="Calibri"/>
              <a:sym typeface="Calibri"/>
            </a:endParaRPr>
          </a:p>
        </p:txBody>
      </p:sp>
      <p:sp>
        <p:nvSpPr>
          <p:cNvPr id="158" name="Google Shape;158;p7"/>
          <p:cNvSpPr/>
          <p:nvPr/>
        </p:nvSpPr>
        <p:spPr>
          <a:xfrm>
            <a:off x="548640" y="5257800"/>
            <a:ext cx="50292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1" lang="en-US" sz="1150" u="none" cap="none" strike="noStrike">
                <a:solidFill>
                  <a:srgbClr val="93A4BC"/>
                </a:solidFill>
                <a:latin typeface="Calibri"/>
                <a:ea typeface="Calibri"/>
                <a:cs typeface="Calibri"/>
                <a:sym typeface="Calibri"/>
              </a:rPr>
              <a:t>Every cycle was judged on measurable outcomes like routing accuracy and latency, not just whether a feature worked. The scope shifted honestly too: the single-agent baseline became a multi-model benchmark, and FinEx replaced Notion to test how well the design carries across domains.</a:t>
            </a:r>
            <a:endParaRPr b="0" i="0" sz="1150" u="none" cap="none" strike="noStrike">
              <a:solidFill>
                <a:schemeClr val="dk1"/>
              </a:solidFill>
              <a:latin typeface="Calibri"/>
              <a:ea typeface="Calibri"/>
              <a:cs typeface="Calibri"/>
              <a:sym typeface="Calibri"/>
            </a:endParaRPr>
          </a:p>
        </p:txBody>
      </p:sp>
      <p:sp>
        <p:nvSpPr>
          <p:cNvPr id="159" name="Google Shape;159;p7"/>
          <p:cNvSpPr/>
          <p:nvPr/>
        </p:nvSpPr>
        <p:spPr>
          <a:xfrm>
            <a:off x="5943600" y="1517904"/>
            <a:ext cx="5669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1300"/>
              <a:buFont typeface="Trebuchet MS"/>
              <a:buNone/>
            </a:pPr>
            <a:r>
              <a:rPr b="1" i="0" lang="en-US" sz="1300" u="none" cap="none" strike="noStrike">
                <a:solidFill>
                  <a:srgbClr val="34D399"/>
                </a:solidFill>
                <a:latin typeface="Trebuchet MS"/>
                <a:ea typeface="Trebuchet MS"/>
                <a:cs typeface="Trebuchet MS"/>
                <a:sym typeface="Trebuchet MS"/>
              </a:rPr>
              <a:t>ETHICS — FIRST-ORDER REQUIREMENTS</a:t>
            </a:r>
            <a:endParaRPr b="0" i="0" sz="1300" u="none" cap="none" strike="noStrike">
              <a:solidFill>
                <a:schemeClr val="dk1"/>
              </a:solidFill>
              <a:latin typeface="Calibri"/>
              <a:ea typeface="Calibri"/>
              <a:cs typeface="Calibri"/>
              <a:sym typeface="Calibri"/>
            </a:endParaRPr>
          </a:p>
        </p:txBody>
      </p:sp>
      <p:sp>
        <p:nvSpPr>
          <p:cNvPr id="160" name="Google Shape;160;p7"/>
          <p:cNvSpPr/>
          <p:nvPr/>
        </p:nvSpPr>
        <p:spPr>
          <a:xfrm>
            <a:off x="5943600" y="1938528"/>
            <a:ext cx="5696712" cy="713232"/>
          </a:xfrm>
          <a:prstGeom prst="roundRect">
            <a:avLst>
              <a:gd fmla="val 1025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6126480" y="2084832"/>
            <a:ext cx="420624" cy="420624"/>
          </a:xfrm>
          <a:prstGeom prst="ellipse">
            <a:avLst/>
          </a:prstGeom>
          <a:solidFill>
            <a:srgbClr val="0C1326"/>
          </a:solidFill>
          <a:ln cap="flat" cmpd="sng" w="15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 name="Google Shape;162;p7"/>
          <p:cNvPicPr preferRelativeResize="0"/>
          <p:nvPr/>
        </p:nvPicPr>
        <p:blipFill rotWithShape="1">
          <a:blip r:embed="rId3">
            <a:alphaModFix/>
          </a:blip>
          <a:srcRect b="0" l="0" r="0" t="0"/>
          <a:stretch/>
        </p:blipFill>
        <p:spPr>
          <a:xfrm>
            <a:off x="6236208" y="2194560"/>
            <a:ext cx="201168" cy="201168"/>
          </a:xfrm>
          <a:prstGeom prst="rect">
            <a:avLst/>
          </a:prstGeom>
          <a:noFill/>
          <a:ln>
            <a:noFill/>
          </a:ln>
        </p:spPr>
      </p:pic>
      <p:sp>
        <p:nvSpPr>
          <p:cNvPr id="163" name="Google Shape;163;p7"/>
          <p:cNvSpPr/>
          <p:nvPr/>
        </p:nvSpPr>
        <p:spPr>
          <a:xfrm>
            <a:off x="6675120" y="2011680"/>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50"/>
              <a:buFont typeface="Trebuchet MS"/>
              <a:buNone/>
            </a:pPr>
            <a:r>
              <a:rPr b="1" i="0" lang="en-US" sz="1350" u="none" cap="none" strike="noStrike">
                <a:solidFill>
                  <a:srgbClr val="E6EDF6"/>
                </a:solidFill>
                <a:latin typeface="Trebuchet MS"/>
                <a:ea typeface="Trebuchet MS"/>
                <a:cs typeface="Trebuchet MS"/>
                <a:sym typeface="Trebuchet MS"/>
              </a:rPr>
              <a:t>Data sovereignty</a:t>
            </a:r>
            <a:endParaRPr b="0" i="0" sz="1350" u="none" cap="none" strike="noStrike">
              <a:solidFill>
                <a:schemeClr val="dk1"/>
              </a:solidFill>
              <a:latin typeface="Calibri"/>
              <a:ea typeface="Calibri"/>
              <a:cs typeface="Calibri"/>
              <a:sym typeface="Calibri"/>
            </a:endParaRPr>
          </a:p>
        </p:txBody>
      </p:sp>
      <p:sp>
        <p:nvSpPr>
          <p:cNvPr id="164" name="Google Shape;164;p7"/>
          <p:cNvSpPr/>
          <p:nvPr/>
        </p:nvSpPr>
        <p:spPr>
          <a:xfrm>
            <a:off x="6675120" y="2286000"/>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Reasoning, embeddings and storage stay on-device; nothing to third-party AI by default</a:t>
            </a:r>
            <a:endParaRPr b="0" i="0" sz="1100" u="none" cap="none" strike="noStrike">
              <a:solidFill>
                <a:schemeClr val="dk1"/>
              </a:solidFill>
              <a:latin typeface="Calibri"/>
              <a:ea typeface="Calibri"/>
              <a:cs typeface="Calibri"/>
              <a:sym typeface="Calibri"/>
            </a:endParaRPr>
          </a:p>
        </p:txBody>
      </p:sp>
      <p:sp>
        <p:nvSpPr>
          <p:cNvPr id="165" name="Google Shape;165;p7"/>
          <p:cNvSpPr/>
          <p:nvPr/>
        </p:nvSpPr>
        <p:spPr>
          <a:xfrm>
            <a:off x="5943600" y="2779776"/>
            <a:ext cx="5696712" cy="713232"/>
          </a:xfrm>
          <a:prstGeom prst="roundRect">
            <a:avLst>
              <a:gd fmla="val 1025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6126480" y="2926080"/>
            <a:ext cx="420624" cy="420624"/>
          </a:xfrm>
          <a:prstGeom prst="ellipse">
            <a:avLst/>
          </a:prstGeom>
          <a:solidFill>
            <a:srgbClr val="0C1326"/>
          </a:solidFill>
          <a:ln cap="flat" cmpd="sng" w="15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 name="Google Shape;167;p7"/>
          <p:cNvPicPr preferRelativeResize="0"/>
          <p:nvPr/>
        </p:nvPicPr>
        <p:blipFill rotWithShape="1">
          <a:blip r:embed="rId4">
            <a:alphaModFix/>
          </a:blip>
          <a:srcRect b="0" l="0" r="0" t="0"/>
          <a:stretch/>
        </p:blipFill>
        <p:spPr>
          <a:xfrm>
            <a:off x="6236208" y="3035808"/>
            <a:ext cx="201168" cy="201168"/>
          </a:xfrm>
          <a:prstGeom prst="rect">
            <a:avLst/>
          </a:prstGeom>
          <a:noFill/>
          <a:ln>
            <a:noFill/>
          </a:ln>
        </p:spPr>
      </p:pic>
      <p:sp>
        <p:nvSpPr>
          <p:cNvPr id="168" name="Google Shape;168;p7"/>
          <p:cNvSpPr/>
          <p:nvPr/>
        </p:nvSpPr>
        <p:spPr>
          <a:xfrm>
            <a:off x="6675120" y="2852928"/>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50"/>
              <a:buFont typeface="Trebuchet MS"/>
              <a:buNone/>
            </a:pPr>
            <a:r>
              <a:rPr b="1" i="0" lang="en-US" sz="1350" u="none" cap="none" strike="noStrike">
                <a:solidFill>
                  <a:srgbClr val="E6EDF6"/>
                </a:solidFill>
                <a:latin typeface="Trebuchet MS"/>
                <a:ea typeface="Trebuchet MS"/>
                <a:cs typeface="Trebuchet MS"/>
                <a:sym typeface="Trebuchet MS"/>
              </a:rPr>
              <a:t>User autonomy</a:t>
            </a:r>
            <a:endParaRPr b="0" i="0" sz="1350" u="none" cap="none" strike="noStrike">
              <a:solidFill>
                <a:schemeClr val="dk1"/>
              </a:solidFill>
              <a:latin typeface="Calibri"/>
              <a:ea typeface="Calibri"/>
              <a:cs typeface="Calibri"/>
              <a:sym typeface="Calibri"/>
            </a:endParaRPr>
          </a:p>
        </p:txBody>
      </p:sp>
      <p:sp>
        <p:nvSpPr>
          <p:cNvPr id="169" name="Google Shape;169;p7"/>
          <p:cNvSpPr/>
          <p:nvPr/>
        </p:nvSpPr>
        <p:spPr>
          <a:xfrm>
            <a:off x="6675120" y="3127248"/>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Nothing destructive or external happens without explicit confirmation</a:t>
            </a:r>
            <a:endParaRPr b="0" i="0" sz="1100" u="none" cap="none" strike="noStrike">
              <a:solidFill>
                <a:schemeClr val="dk1"/>
              </a:solidFill>
              <a:latin typeface="Calibri"/>
              <a:ea typeface="Calibri"/>
              <a:cs typeface="Calibri"/>
              <a:sym typeface="Calibri"/>
            </a:endParaRPr>
          </a:p>
        </p:txBody>
      </p:sp>
      <p:sp>
        <p:nvSpPr>
          <p:cNvPr id="170" name="Google Shape;170;p7"/>
          <p:cNvSpPr/>
          <p:nvPr/>
        </p:nvSpPr>
        <p:spPr>
          <a:xfrm>
            <a:off x="5943600" y="3621024"/>
            <a:ext cx="5696712" cy="713232"/>
          </a:xfrm>
          <a:prstGeom prst="roundRect">
            <a:avLst>
              <a:gd fmla="val 10256"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6126480" y="3767328"/>
            <a:ext cx="420624" cy="420624"/>
          </a:xfrm>
          <a:prstGeom prst="ellipse">
            <a:avLst/>
          </a:prstGeom>
          <a:solidFill>
            <a:srgbClr val="0C1326"/>
          </a:solidFill>
          <a:ln cap="flat" cmpd="sng" w="15225">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 name="Google Shape;172;p7"/>
          <p:cNvPicPr preferRelativeResize="0"/>
          <p:nvPr/>
        </p:nvPicPr>
        <p:blipFill rotWithShape="1">
          <a:blip r:embed="rId5">
            <a:alphaModFix/>
          </a:blip>
          <a:srcRect b="0" l="0" r="0" t="0"/>
          <a:stretch/>
        </p:blipFill>
        <p:spPr>
          <a:xfrm>
            <a:off x="6236208" y="3877056"/>
            <a:ext cx="201168" cy="201168"/>
          </a:xfrm>
          <a:prstGeom prst="rect">
            <a:avLst/>
          </a:prstGeom>
          <a:noFill/>
          <a:ln>
            <a:noFill/>
          </a:ln>
        </p:spPr>
      </p:pic>
      <p:sp>
        <p:nvSpPr>
          <p:cNvPr id="173" name="Google Shape;173;p7"/>
          <p:cNvSpPr/>
          <p:nvPr/>
        </p:nvSpPr>
        <p:spPr>
          <a:xfrm>
            <a:off x="6675120" y="369417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50"/>
              <a:buFont typeface="Trebuchet MS"/>
              <a:buNone/>
            </a:pPr>
            <a:r>
              <a:rPr b="1" i="0" lang="en-US" sz="1350" u="none" cap="none" strike="noStrike">
                <a:solidFill>
                  <a:srgbClr val="E6EDF6"/>
                </a:solidFill>
                <a:latin typeface="Trebuchet MS"/>
                <a:ea typeface="Trebuchet MS"/>
                <a:cs typeface="Trebuchet MS"/>
                <a:sym typeface="Trebuchet MS"/>
              </a:rPr>
              <a:t>Epistemic honesty</a:t>
            </a:r>
            <a:endParaRPr b="0" i="0" sz="1350" u="none" cap="none" strike="noStrike">
              <a:solidFill>
                <a:schemeClr val="dk1"/>
              </a:solidFill>
              <a:latin typeface="Calibri"/>
              <a:ea typeface="Calibri"/>
              <a:cs typeface="Calibri"/>
              <a:sym typeface="Calibri"/>
            </a:endParaRPr>
          </a:p>
        </p:txBody>
      </p:sp>
      <p:sp>
        <p:nvSpPr>
          <p:cNvPr id="174" name="Google Shape;174;p7"/>
          <p:cNvSpPr/>
          <p:nvPr/>
        </p:nvSpPr>
        <p:spPr>
          <a:xfrm>
            <a:off x="6675120" y="3968496"/>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A Critic agent checks every plan and result before it reaches the user</a:t>
            </a:r>
            <a:endParaRPr b="0" i="0" sz="1100" u="none" cap="none" strike="noStrike">
              <a:solidFill>
                <a:schemeClr val="dk1"/>
              </a:solidFill>
              <a:latin typeface="Calibri"/>
              <a:ea typeface="Calibri"/>
              <a:cs typeface="Calibri"/>
              <a:sym typeface="Calibri"/>
            </a:endParaRPr>
          </a:p>
        </p:txBody>
      </p:sp>
      <p:sp>
        <p:nvSpPr>
          <p:cNvPr id="175" name="Google Shape;175;p7"/>
          <p:cNvSpPr/>
          <p:nvPr/>
        </p:nvSpPr>
        <p:spPr>
          <a:xfrm>
            <a:off x="5943600" y="457200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1300"/>
              <a:buFont typeface="Trebuchet MS"/>
              <a:buNone/>
            </a:pPr>
            <a:r>
              <a:rPr b="1" i="0" lang="en-US" sz="1300" u="none" cap="none" strike="noStrike">
                <a:solidFill>
                  <a:srgbClr val="FBBF24"/>
                </a:solidFill>
                <a:latin typeface="Trebuchet MS"/>
                <a:ea typeface="Trebuchet MS"/>
                <a:cs typeface="Trebuchet MS"/>
                <a:sym typeface="Trebuchet MS"/>
              </a:rPr>
              <a:t>KEY RISKS &amp; MITIGATIONS</a:t>
            </a:r>
            <a:endParaRPr b="0" i="0" sz="1300" u="none" cap="none" strike="noStrike">
              <a:solidFill>
                <a:schemeClr val="dk1"/>
              </a:solidFill>
              <a:latin typeface="Calibri"/>
              <a:ea typeface="Calibri"/>
              <a:cs typeface="Calibri"/>
              <a:sym typeface="Calibri"/>
            </a:endParaRPr>
          </a:p>
        </p:txBody>
      </p:sp>
      <p:sp>
        <p:nvSpPr>
          <p:cNvPr id="176" name="Google Shape;176;p7"/>
          <p:cNvSpPr/>
          <p:nvPr/>
        </p:nvSpPr>
        <p:spPr>
          <a:xfrm>
            <a:off x="5943600" y="4937760"/>
            <a:ext cx="5696712"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3A4BC"/>
              </a:buClr>
              <a:buSzPts val="1150"/>
              <a:buFont typeface="Calibri"/>
              <a:buChar char="•"/>
            </a:pPr>
            <a:r>
              <a:rPr b="0" i="0" lang="en-US" sz="1150" u="none" cap="none" strike="noStrike">
                <a:solidFill>
                  <a:srgbClr val="93A4BC"/>
                </a:solidFill>
                <a:latin typeface="Calibri"/>
                <a:ea typeface="Calibri"/>
                <a:cs typeface="Calibri"/>
                <a:sym typeface="Calibri"/>
              </a:rPr>
              <a:t>Hallucination → JSON-only prompts, low temperature, Critic + bounded replanning</a:t>
            </a:r>
            <a:endParaRPr b="0" i="0" sz="11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93A4BC"/>
              </a:buClr>
              <a:buSzPts val="1150"/>
              <a:buFont typeface="Calibri"/>
              <a:buChar char="•"/>
            </a:pPr>
            <a:r>
              <a:rPr b="0" i="0" lang="en-US" sz="1150" u="none" cap="none" strike="noStrike">
                <a:solidFill>
                  <a:srgbClr val="93A4BC"/>
                </a:solidFill>
                <a:latin typeface="Calibri"/>
                <a:ea typeface="Calibri"/>
                <a:cs typeface="Calibri"/>
                <a:sym typeface="Calibri"/>
              </a:rPr>
              <a:t>API limits → exponential backoff, graceful per-tool degradation</a:t>
            </a:r>
            <a:endParaRPr b="0" i="0" sz="11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93A4BC"/>
              </a:buClr>
              <a:buSzPts val="1150"/>
              <a:buFont typeface="Calibri"/>
              <a:buChar char="•"/>
            </a:pPr>
            <a:r>
              <a:rPr b="0" i="0" lang="en-US" sz="1150" u="none" cap="none" strike="noStrike">
                <a:solidFill>
                  <a:srgbClr val="93A4BC"/>
                </a:solidFill>
                <a:latin typeface="Calibri"/>
                <a:ea typeface="Calibri"/>
                <a:cs typeface="Calibri"/>
                <a:sym typeface="Calibri"/>
              </a:rPr>
              <a:t>Scope drift &amp; weak evidence → phased milestones, evaluation built in from the start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181" name="Shape 181"/>
        <p:cNvGrpSpPr/>
        <p:nvPr/>
      </p:nvGrpSpPr>
      <p:grpSpPr>
        <a:xfrm>
          <a:off x="0" y="0"/>
          <a:ext cx="0" cy="0"/>
          <a:chOff x="0" y="0"/>
          <a:chExt cx="0" cy="0"/>
        </a:xfrm>
      </p:grpSpPr>
      <p:sp>
        <p:nvSpPr>
          <p:cNvPr id="182" name="Google Shape;182;p8"/>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05</a:t>
            </a:r>
            <a:endParaRPr b="0" i="0" sz="3000" u="none" cap="none" strike="noStrike">
              <a:solidFill>
                <a:schemeClr val="dk1"/>
              </a:solidFill>
              <a:latin typeface="Calibri"/>
              <a:ea typeface="Calibri"/>
              <a:cs typeface="Calibri"/>
              <a:sym typeface="Calibri"/>
            </a:endParaRPr>
          </a:p>
        </p:txBody>
      </p:sp>
      <p:sp>
        <p:nvSpPr>
          <p:cNvPr id="183" name="Google Shape;183;p8"/>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5A · REQUIREMENTS</a:t>
            </a:r>
            <a:endParaRPr b="0" i="0" sz="1200" u="none" cap="none" strike="noStrike">
              <a:solidFill>
                <a:schemeClr val="dk1"/>
              </a:solidFill>
              <a:latin typeface="Calibri"/>
              <a:ea typeface="Calibri"/>
              <a:cs typeface="Calibri"/>
              <a:sym typeface="Calibri"/>
            </a:endParaRPr>
          </a:p>
        </p:txBody>
      </p:sp>
      <p:sp>
        <p:nvSpPr>
          <p:cNvPr id="184" name="Google Shape;184;p8"/>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Fifteen functional, eight non-functional</a:t>
            </a:r>
            <a:endParaRPr b="0" i="0" sz="3000" u="none" cap="none" strike="noStrike">
              <a:solidFill>
                <a:schemeClr val="dk1"/>
              </a:solidFill>
              <a:latin typeface="Calibri"/>
              <a:ea typeface="Calibri"/>
              <a:cs typeface="Calibri"/>
              <a:sym typeface="Calibri"/>
            </a:endParaRPr>
          </a:p>
        </p:txBody>
      </p:sp>
      <p:sp>
        <p:nvSpPr>
          <p:cNvPr id="185" name="Google Shape;185;p8"/>
          <p:cNvSpPr/>
          <p:nvPr/>
        </p:nvSpPr>
        <p:spPr>
          <a:xfrm>
            <a:off x="548640" y="1517904"/>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300"/>
              <a:buFont typeface="Trebuchet MS"/>
              <a:buNone/>
            </a:pPr>
            <a:r>
              <a:rPr b="1" i="0" lang="en-US" sz="1300" u="none" cap="none" strike="noStrike">
                <a:solidFill>
                  <a:srgbClr val="22D3EE"/>
                </a:solidFill>
                <a:latin typeface="Trebuchet MS"/>
                <a:ea typeface="Trebuchet MS"/>
                <a:cs typeface="Trebuchet MS"/>
                <a:sym typeface="Trebuchet MS"/>
              </a:rPr>
              <a:t>FUNCTIONAL — WHAT IT MUST DO</a:t>
            </a:r>
            <a:endParaRPr b="0" i="0" sz="1300" u="none" cap="none" strike="noStrike">
              <a:solidFill>
                <a:schemeClr val="dk1"/>
              </a:solidFill>
              <a:latin typeface="Calibri"/>
              <a:ea typeface="Calibri"/>
              <a:cs typeface="Calibri"/>
              <a:sym typeface="Calibri"/>
            </a:endParaRPr>
          </a:p>
        </p:txBody>
      </p:sp>
      <p:sp>
        <p:nvSpPr>
          <p:cNvPr id="186" name="Google Shape;186;p8"/>
          <p:cNvSpPr/>
          <p:nvPr/>
        </p:nvSpPr>
        <p:spPr>
          <a:xfrm>
            <a:off x="548640" y="1938528"/>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548640" y="1938528"/>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FR2</a:t>
            </a:r>
            <a:endParaRPr b="0" i="0" sz="1100" u="none" cap="none" strike="noStrike">
              <a:solidFill>
                <a:schemeClr val="dk1"/>
              </a:solidFill>
              <a:latin typeface="Calibri"/>
              <a:ea typeface="Calibri"/>
              <a:cs typeface="Calibri"/>
              <a:sym typeface="Calibri"/>
            </a:endParaRPr>
          </a:p>
        </p:txBody>
      </p:sp>
      <p:sp>
        <p:nvSpPr>
          <p:cNvPr id="188" name="Google Shape;188;p8"/>
          <p:cNvSpPr/>
          <p:nvPr/>
        </p:nvSpPr>
        <p:spPr>
          <a:xfrm>
            <a:off x="1417320" y="1920240"/>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Sort every request into ~20 intents</a:t>
            </a:r>
            <a:endParaRPr b="0" i="0" sz="1200" u="none" cap="none" strike="noStrike">
              <a:solidFill>
                <a:schemeClr val="dk1"/>
              </a:solidFill>
              <a:latin typeface="Calibri"/>
              <a:ea typeface="Calibri"/>
              <a:cs typeface="Calibri"/>
              <a:sym typeface="Calibri"/>
            </a:endParaRPr>
          </a:p>
        </p:txBody>
      </p:sp>
      <p:sp>
        <p:nvSpPr>
          <p:cNvPr id="189" name="Google Shape;189;p8"/>
          <p:cNvSpPr/>
          <p:nvPr/>
        </p:nvSpPr>
        <p:spPr>
          <a:xfrm>
            <a:off x="548640" y="2468880"/>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548640" y="2468880"/>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FR3</a:t>
            </a:r>
            <a:endParaRPr b="0" i="0" sz="1100" u="none" cap="none" strike="noStrike">
              <a:solidFill>
                <a:schemeClr val="dk1"/>
              </a:solidFill>
              <a:latin typeface="Calibri"/>
              <a:ea typeface="Calibri"/>
              <a:cs typeface="Calibri"/>
              <a:sym typeface="Calibri"/>
            </a:endParaRPr>
          </a:p>
        </p:txBody>
      </p:sp>
      <p:sp>
        <p:nvSpPr>
          <p:cNvPr id="191" name="Google Shape;191;p8"/>
          <p:cNvSpPr/>
          <p:nvPr/>
        </p:nvSpPr>
        <p:spPr>
          <a:xfrm>
            <a:off x="1417320" y="2450592"/>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Break complex ones into a dependency-aware DAG</a:t>
            </a:r>
            <a:endParaRPr b="0" i="0" sz="1200" u="none" cap="none" strike="noStrike">
              <a:solidFill>
                <a:schemeClr val="dk1"/>
              </a:solidFill>
              <a:latin typeface="Calibri"/>
              <a:ea typeface="Calibri"/>
              <a:cs typeface="Calibri"/>
              <a:sym typeface="Calibri"/>
            </a:endParaRPr>
          </a:p>
        </p:txBody>
      </p:sp>
      <p:sp>
        <p:nvSpPr>
          <p:cNvPr id="192" name="Google Shape;192;p8"/>
          <p:cNvSpPr/>
          <p:nvPr/>
        </p:nvSpPr>
        <p:spPr>
          <a:xfrm>
            <a:off x="548640" y="2999232"/>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548640" y="2999232"/>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FR4</a:t>
            </a:r>
            <a:endParaRPr b="0" i="0" sz="1100" u="none" cap="none" strike="noStrike">
              <a:solidFill>
                <a:schemeClr val="dk1"/>
              </a:solidFill>
              <a:latin typeface="Calibri"/>
              <a:ea typeface="Calibri"/>
              <a:cs typeface="Calibri"/>
              <a:sym typeface="Calibri"/>
            </a:endParaRPr>
          </a:p>
        </p:txBody>
      </p:sp>
      <p:sp>
        <p:nvSpPr>
          <p:cNvPr id="194" name="Google Shape;194;p8"/>
          <p:cNvSpPr/>
          <p:nvPr/>
        </p:nvSpPr>
        <p:spPr>
          <a:xfrm>
            <a:off x="1417320" y="2980944"/>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Run steps in order; feed outputs forward</a:t>
            </a:r>
            <a:endParaRPr b="0" i="0" sz="1200" u="none" cap="none" strike="noStrike">
              <a:solidFill>
                <a:schemeClr val="dk1"/>
              </a:solidFill>
              <a:latin typeface="Calibri"/>
              <a:ea typeface="Calibri"/>
              <a:cs typeface="Calibri"/>
              <a:sym typeface="Calibri"/>
            </a:endParaRPr>
          </a:p>
        </p:txBody>
      </p:sp>
      <p:sp>
        <p:nvSpPr>
          <p:cNvPr id="195" name="Google Shape;195;p8"/>
          <p:cNvSpPr/>
          <p:nvPr/>
        </p:nvSpPr>
        <p:spPr>
          <a:xfrm>
            <a:off x="548640" y="3529584"/>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548640" y="3529584"/>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FR6</a:t>
            </a:r>
            <a:endParaRPr b="0" i="0" sz="1100" u="none" cap="none" strike="noStrike">
              <a:solidFill>
                <a:schemeClr val="dk1"/>
              </a:solidFill>
              <a:latin typeface="Calibri"/>
              <a:ea typeface="Calibri"/>
              <a:cs typeface="Calibri"/>
              <a:sym typeface="Calibri"/>
            </a:endParaRPr>
          </a:p>
        </p:txBody>
      </p:sp>
      <p:sp>
        <p:nvSpPr>
          <p:cNvPr id="197" name="Google Shape;197;p8"/>
          <p:cNvSpPr/>
          <p:nvPr/>
        </p:nvSpPr>
        <p:spPr>
          <a:xfrm>
            <a:off x="1417320" y="3511296"/>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Keep persistent semantic + episodic memory</a:t>
            </a:r>
            <a:endParaRPr b="0" i="0" sz="1200" u="none" cap="none" strike="noStrike">
              <a:solidFill>
                <a:schemeClr val="dk1"/>
              </a:solidFill>
              <a:latin typeface="Calibri"/>
              <a:ea typeface="Calibri"/>
              <a:cs typeface="Calibri"/>
              <a:sym typeface="Calibri"/>
            </a:endParaRPr>
          </a:p>
        </p:txBody>
      </p:sp>
      <p:sp>
        <p:nvSpPr>
          <p:cNvPr id="198" name="Google Shape;198;p8"/>
          <p:cNvSpPr/>
          <p:nvPr/>
        </p:nvSpPr>
        <p:spPr>
          <a:xfrm>
            <a:off x="548640" y="4059936"/>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548640" y="4059936"/>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FR7</a:t>
            </a:r>
            <a:endParaRPr b="0" i="0" sz="1100" u="none" cap="none" strike="noStrike">
              <a:solidFill>
                <a:schemeClr val="dk1"/>
              </a:solidFill>
              <a:latin typeface="Calibri"/>
              <a:ea typeface="Calibri"/>
              <a:cs typeface="Calibri"/>
              <a:sym typeface="Calibri"/>
            </a:endParaRPr>
          </a:p>
        </p:txBody>
      </p:sp>
      <p:sp>
        <p:nvSpPr>
          <p:cNvPr id="200" name="Google Shape;200;p8"/>
          <p:cNvSpPr/>
          <p:nvPr/>
        </p:nvSpPr>
        <p:spPr>
          <a:xfrm>
            <a:off x="1417320" y="4041648"/>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Confirm before destructive / external actions</a:t>
            </a:r>
            <a:endParaRPr b="0" i="0" sz="1200" u="none" cap="none" strike="noStrike">
              <a:solidFill>
                <a:schemeClr val="dk1"/>
              </a:solidFill>
              <a:latin typeface="Calibri"/>
              <a:ea typeface="Calibri"/>
              <a:cs typeface="Calibri"/>
              <a:sym typeface="Calibri"/>
            </a:endParaRPr>
          </a:p>
        </p:txBody>
      </p:sp>
      <p:sp>
        <p:nvSpPr>
          <p:cNvPr id="201" name="Google Shape;201;p8"/>
          <p:cNvSpPr/>
          <p:nvPr/>
        </p:nvSpPr>
        <p:spPr>
          <a:xfrm>
            <a:off x="548640" y="4590288"/>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548640" y="4590288"/>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FR8</a:t>
            </a:r>
            <a:endParaRPr b="0" i="0" sz="1100" u="none" cap="none" strike="noStrike">
              <a:solidFill>
                <a:schemeClr val="dk1"/>
              </a:solidFill>
              <a:latin typeface="Calibri"/>
              <a:ea typeface="Calibri"/>
              <a:cs typeface="Calibri"/>
              <a:sym typeface="Calibri"/>
            </a:endParaRPr>
          </a:p>
        </p:txBody>
      </p:sp>
      <p:sp>
        <p:nvSpPr>
          <p:cNvPr id="203" name="Google Shape;203;p8"/>
          <p:cNvSpPr/>
          <p:nvPr/>
        </p:nvSpPr>
        <p:spPr>
          <a:xfrm>
            <a:off x="1417320" y="4572000"/>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Self-check and replan (max 2 attempts)</a:t>
            </a:r>
            <a:endParaRPr b="0" i="0" sz="1200" u="none" cap="none" strike="noStrike">
              <a:solidFill>
                <a:schemeClr val="dk1"/>
              </a:solidFill>
              <a:latin typeface="Calibri"/>
              <a:ea typeface="Calibri"/>
              <a:cs typeface="Calibri"/>
              <a:sym typeface="Calibri"/>
            </a:endParaRPr>
          </a:p>
        </p:txBody>
      </p:sp>
      <p:sp>
        <p:nvSpPr>
          <p:cNvPr id="204" name="Google Shape;204;p8"/>
          <p:cNvSpPr/>
          <p:nvPr/>
        </p:nvSpPr>
        <p:spPr>
          <a:xfrm>
            <a:off x="548640" y="5120640"/>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548640" y="5120640"/>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FR10</a:t>
            </a:r>
            <a:endParaRPr b="0" i="0" sz="1100" u="none" cap="none" strike="noStrike">
              <a:solidFill>
                <a:schemeClr val="dk1"/>
              </a:solidFill>
              <a:latin typeface="Calibri"/>
              <a:ea typeface="Calibri"/>
              <a:cs typeface="Calibri"/>
              <a:sym typeface="Calibri"/>
            </a:endParaRPr>
          </a:p>
        </p:txBody>
      </p:sp>
      <p:sp>
        <p:nvSpPr>
          <p:cNvPr id="206" name="Google Shape;206;p8"/>
          <p:cNvSpPr/>
          <p:nvPr/>
        </p:nvSpPr>
        <p:spPr>
          <a:xfrm>
            <a:off x="1417320" y="5102352"/>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Swap the model (local or cloud) with no code change</a:t>
            </a:r>
            <a:endParaRPr b="0" i="0" sz="1200" u="none" cap="none" strike="noStrike">
              <a:solidFill>
                <a:schemeClr val="dk1"/>
              </a:solidFill>
              <a:latin typeface="Calibri"/>
              <a:ea typeface="Calibri"/>
              <a:cs typeface="Calibri"/>
              <a:sym typeface="Calibri"/>
            </a:endParaRPr>
          </a:p>
        </p:txBody>
      </p:sp>
      <p:sp>
        <p:nvSpPr>
          <p:cNvPr id="207" name="Google Shape;207;p8"/>
          <p:cNvSpPr/>
          <p:nvPr/>
        </p:nvSpPr>
        <p:spPr>
          <a:xfrm>
            <a:off x="548640" y="5650992"/>
            <a:ext cx="749808" cy="402336"/>
          </a:xfrm>
          <a:prstGeom prst="roundRect">
            <a:avLst>
              <a:gd fmla="val 11364" name="adj"/>
            </a:avLst>
          </a:prstGeom>
          <a:solidFill>
            <a:srgbClr val="1B2742"/>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548640" y="5650992"/>
            <a:ext cx="7498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100"/>
              <a:buFont typeface="Consolas"/>
              <a:buNone/>
            </a:pPr>
            <a:r>
              <a:rPr b="1" i="0" lang="en-US" sz="1100" u="none" cap="none" strike="noStrike">
                <a:solidFill>
                  <a:srgbClr val="22D3EE"/>
                </a:solidFill>
                <a:latin typeface="Consolas"/>
                <a:ea typeface="Consolas"/>
                <a:cs typeface="Consolas"/>
                <a:sym typeface="Consolas"/>
              </a:rPr>
              <a:t>FR12</a:t>
            </a:r>
            <a:endParaRPr b="0" i="0" sz="1100" u="none" cap="none" strike="noStrike">
              <a:solidFill>
                <a:schemeClr val="dk1"/>
              </a:solidFill>
              <a:latin typeface="Calibri"/>
              <a:ea typeface="Calibri"/>
              <a:cs typeface="Calibri"/>
              <a:sym typeface="Calibri"/>
            </a:endParaRPr>
          </a:p>
        </p:txBody>
      </p:sp>
      <p:sp>
        <p:nvSpPr>
          <p:cNvPr id="209" name="Google Shape;209;p8"/>
          <p:cNvSpPr/>
          <p:nvPr/>
        </p:nvSpPr>
        <p:spPr>
          <a:xfrm>
            <a:off x="1417320" y="5632704"/>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00"/>
              <a:buFont typeface="Calibri"/>
              <a:buNone/>
            </a:pPr>
            <a:r>
              <a:rPr b="0" i="0" lang="en-US" sz="1200" u="none" cap="none" strike="noStrike">
                <a:solidFill>
                  <a:srgbClr val="E6EDF6"/>
                </a:solidFill>
                <a:latin typeface="Calibri"/>
                <a:ea typeface="Calibri"/>
                <a:cs typeface="Calibri"/>
                <a:sym typeface="Calibri"/>
              </a:rPr>
              <a:t>Full local voice loop: wake → STT → LLM → TTS</a:t>
            </a:r>
            <a:endParaRPr b="0" i="0" sz="1200" u="none" cap="none" strike="noStrike">
              <a:solidFill>
                <a:schemeClr val="dk1"/>
              </a:solidFill>
              <a:latin typeface="Calibri"/>
              <a:ea typeface="Calibri"/>
              <a:cs typeface="Calibri"/>
              <a:sym typeface="Calibri"/>
            </a:endParaRPr>
          </a:p>
        </p:txBody>
      </p:sp>
      <p:sp>
        <p:nvSpPr>
          <p:cNvPr id="210" name="Google Shape;210;p8"/>
          <p:cNvSpPr/>
          <p:nvPr/>
        </p:nvSpPr>
        <p:spPr>
          <a:xfrm>
            <a:off x="6126480" y="1517904"/>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1300"/>
              <a:buFont typeface="Trebuchet MS"/>
              <a:buNone/>
            </a:pPr>
            <a:r>
              <a:rPr b="1" i="0" lang="en-US" sz="1300" u="none" cap="none" strike="noStrike">
                <a:solidFill>
                  <a:srgbClr val="60A5FA"/>
                </a:solidFill>
                <a:latin typeface="Trebuchet MS"/>
                <a:ea typeface="Trebuchet MS"/>
                <a:cs typeface="Trebuchet MS"/>
                <a:sym typeface="Trebuchet MS"/>
              </a:rPr>
              <a:t>NON-FUNCTIONAL — HOW WELL</a:t>
            </a:r>
            <a:endParaRPr b="0" i="0" sz="1300" u="none" cap="none" strike="noStrike">
              <a:solidFill>
                <a:schemeClr val="dk1"/>
              </a:solidFill>
              <a:latin typeface="Calibri"/>
              <a:ea typeface="Calibri"/>
              <a:cs typeface="Calibri"/>
              <a:sym typeface="Calibri"/>
            </a:endParaRPr>
          </a:p>
        </p:txBody>
      </p:sp>
      <p:sp>
        <p:nvSpPr>
          <p:cNvPr id="211" name="Google Shape;211;p8"/>
          <p:cNvSpPr/>
          <p:nvPr/>
        </p:nvSpPr>
        <p:spPr>
          <a:xfrm>
            <a:off x="6126480" y="1938528"/>
            <a:ext cx="5513832" cy="603504"/>
          </a:xfrm>
          <a:prstGeom prst="roundRect">
            <a:avLst>
              <a:gd fmla="val 1212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6291072" y="2066544"/>
            <a:ext cx="365760" cy="365760"/>
          </a:xfrm>
          <a:prstGeom prst="ellipse">
            <a:avLst/>
          </a:prstGeom>
          <a:solidFill>
            <a:srgbClr val="0C1326"/>
          </a:solidFill>
          <a:ln cap="flat" cmpd="sng" w="139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 name="Google Shape;213;p8"/>
          <p:cNvPicPr preferRelativeResize="0"/>
          <p:nvPr/>
        </p:nvPicPr>
        <p:blipFill rotWithShape="1">
          <a:blip r:embed="rId3">
            <a:alphaModFix/>
          </a:blip>
          <a:srcRect b="0" l="0" r="0" t="0"/>
          <a:stretch/>
        </p:blipFill>
        <p:spPr>
          <a:xfrm>
            <a:off x="6391656" y="2167128"/>
            <a:ext cx="164592" cy="164592"/>
          </a:xfrm>
          <a:prstGeom prst="rect">
            <a:avLst/>
          </a:prstGeom>
          <a:noFill/>
          <a:ln>
            <a:noFill/>
          </a:ln>
        </p:spPr>
      </p:pic>
      <p:sp>
        <p:nvSpPr>
          <p:cNvPr id="214" name="Google Shape;214;p8"/>
          <p:cNvSpPr/>
          <p:nvPr/>
        </p:nvSpPr>
        <p:spPr>
          <a:xfrm>
            <a:off x="6784848" y="2002536"/>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Latency</a:t>
            </a:r>
            <a:endParaRPr b="0" i="0" sz="1250" u="none" cap="none" strike="noStrike">
              <a:solidFill>
                <a:schemeClr val="dk1"/>
              </a:solidFill>
              <a:latin typeface="Calibri"/>
              <a:ea typeface="Calibri"/>
              <a:cs typeface="Calibri"/>
              <a:sym typeface="Calibri"/>
            </a:endParaRPr>
          </a:p>
        </p:txBody>
      </p:sp>
      <p:sp>
        <p:nvSpPr>
          <p:cNvPr id="215" name="Google Shape;215;p8"/>
          <p:cNvSpPr/>
          <p:nvPr/>
        </p:nvSpPr>
        <p:spPr>
          <a:xfrm>
            <a:off x="8229600" y="2002536"/>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Tier 1 &lt; 1s · Tier 2 &lt; 5s · Tier 3 &lt; 30s</a:t>
            </a:r>
            <a:endParaRPr b="0" i="0" sz="1050" u="none" cap="none" strike="noStrike">
              <a:solidFill>
                <a:schemeClr val="dk1"/>
              </a:solidFill>
              <a:latin typeface="Calibri"/>
              <a:ea typeface="Calibri"/>
              <a:cs typeface="Calibri"/>
              <a:sym typeface="Calibri"/>
            </a:endParaRPr>
          </a:p>
        </p:txBody>
      </p:sp>
      <p:sp>
        <p:nvSpPr>
          <p:cNvPr id="216" name="Google Shape;216;p8"/>
          <p:cNvSpPr/>
          <p:nvPr/>
        </p:nvSpPr>
        <p:spPr>
          <a:xfrm>
            <a:off x="6126480" y="2651760"/>
            <a:ext cx="5513832" cy="603504"/>
          </a:xfrm>
          <a:prstGeom prst="roundRect">
            <a:avLst>
              <a:gd fmla="val 1212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6291072" y="2779776"/>
            <a:ext cx="365760" cy="365760"/>
          </a:xfrm>
          <a:prstGeom prst="ellipse">
            <a:avLst/>
          </a:prstGeom>
          <a:solidFill>
            <a:srgbClr val="0C1326"/>
          </a:solidFill>
          <a:ln cap="flat" cmpd="sng" w="139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8" name="Google Shape;218;p8"/>
          <p:cNvPicPr preferRelativeResize="0"/>
          <p:nvPr/>
        </p:nvPicPr>
        <p:blipFill rotWithShape="1">
          <a:blip r:embed="rId4">
            <a:alphaModFix/>
          </a:blip>
          <a:srcRect b="0" l="0" r="0" t="0"/>
          <a:stretch/>
        </p:blipFill>
        <p:spPr>
          <a:xfrm>
            <a:off x="6391656" y="2880360"/>
            <a:ext cx="164592" cy="164592"/>
          </a:xfrm>
          <a:prstGeom prst="rect">
            <a:avLst/>
          </a:prstGeom>
          <a:noFill/>
          <a:ln>
            <a:noFill/>
          </a:ln>
        </p:spPr>
      </p:pic>
      <p:sp>
        <p:nvSpPr>
          <p:cNvPr id="219" name="Google Shape;219;p8"/>
          <p:cNvSpPr/>
          <p:nvPr/>
        </p:nvSpPr>
        <p:spPr>
          <a:xfrm>
            <a:off x="6784848" y="2715768"/>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Modularity</a:t>
            </a:r>
            <a:endParaRPr b="0" i="0" sz="1250" u="none" cap="none" strike="noStrike">
              <a:solidFill>
                <a:schemeClr val="dk1"/>
              </a:solidFill>
              <a:latin typeface="Calibri"/>
              <a:ea typeface="Calibri"/>
              <a:cs typeface="Calibri"/>
              <a:sym typeface="Calibri"/>
            </a:endParaRPr>
          </a:p>
        </p:txBody>
      </p:sp>
      <p:sp>
        <p:nvSpPr>
          <p:cNvPr id="220" name="Google Shape;220;p8"/>
          <p:cNvSpPr/>
          <p:nvPr/>
        </p:nvSpPr>
        <p:spPr>
          <a:xfrm>
            <a:off x="8229600" y="2715768"/>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Each agent/tool testable &amp; replaceable on its own</a:t>
            </a:r>
            <a:endParaRPr b="0" i="0" sz="1050" u="none" cap="none" strike="noStrike">
              <a:solidFill>
                <a:schemeClr val="dk1"/>
              </a:solidFill>
              <a:latin typeface="Calibri"/>
              <a:ea typeface="Calibri"/>
              <a:cs typeface="Calibri"/>
              <a:sym typeface="Calibri"/>
            </a:endParaRPr>
          </a:p>
        </p:txBody>
      </p:sp>
      <p:sp>
        <p:nvSpPr>
          <p:cNvPr id="221" name="Google Shape;221;p8"/>
          <p:cNvSpPr/>
          <p:nvPr/>
        </p:nvSpPr>
        <p:spPr>
          <a:xfrm>
            <a:off x="6126480" y="3364992"/>
            <a:ext cx="5513832" cy="603504"/>
          </a:xfrm>
          <a:prstGeom prst="roundRect">
            <a:avLst>
              <a:gd fmla="val 1212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6291072" y="3493008"/>
            <a:ext cx="365760" cy="365760"/>
          </a:xfrm>
          <a:prstGeom prst="ellipse">
            <a:avLst/>
          </a:prstGeom>
          <a:solidFill>
            <a:srgbClr val="0C1326"/>
          </a:solidFill>
          <a:ln cap="flat" cmpd="sng" w="139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3" name="Google Shape;223;p8"/>
          <p:cNvPicPr preferRelativeResize="0"/>
          <p:nvPr/>
        </p:nvPicPr>
        <p:blipFill rotWithShape="1">
          <a:blip r:embed="rId5">
            <a:alphaModFix/>
          </a:blip>
          <a:srcRect b="0" l="0" r="0" t="0"/>
          <a:stretch/>
        </p:blipFill>
        <p:spPr>
          <a:xfrm>
            <a:off x="6391656" y="3593592"/>
            <a:ext cx="164592" cy="164592"/>
          </a:xfrm>
          <a:prstGeom prst="rect">
            <a:avLst/>
          </a:prstGeom>
          <a:noFill/>
          <a:ln>
            <a:noFill/>
          </a:ln>
        </p:spPr>
      </p:pic>
      <p:sp>
        <p:nvSpPr>
          <p:cNvPr id="224" name="Google Shape;224;p8"/>
          <p:cNvSpPr/>
          <p:nvPr/>
        </p:nvSpPr>
        <p:spPr>
          <a:xfrm>
            <a:off x="6784848" y="342900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Extensibility</a:t>
            </a:r>
            <a:endParaRPr b="0" i="0" sz="1250" u="none" cap="none" strike="noStrike">
              <a:solidFill>
                <a:schemeClr val="dk1"/>
              </a:solidFill>
              <a:latin typeface="Calibri"/>
              <a:ea typeface="Calibri"/>
              <a:cs typeface="Calibri"/>
              <a:sym typeface="Calibri"/>
            </a:endParaRPr>
          </a:p>
        </p:txBody>
      </p:sp>
      <p:sp>
        <p:nvSpPr>
          <p:cNvPr id="225" name="Google Shape;225;p8"/>
          <p:cNvSpPr/>
          <p:nvPr/>
        </p:nvSpPr>
        <p:spPr>
          <a:xfrm>
            <a:off x="8229600" y="34290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A new tool in ≤ 3 files, no architecture change</a:t>
            </a:r>
            <a:endParaRPr b="0" i="0" sz="1050" u="none" cap="none" strike="noStrike">
              <a:solidFill>
                <a:schemeClr val="dk1"/>
              </a:solidFill>
              <a:latin typeface="Calibri"/>
              <a:ea typeface="Calibri"/>
              <a:cs typeface="Calibri"/>
              <a:sym typeface="Calibri"/>
            </a:endParaRPr>
          </a:p>
        </p:txBody>
      </p:sp>
      <p:sp>
        <p:nvSpPr>
          <p:cNvPr id="226" name="Google Shape;226;p8"/>
          <p:cNvSpPr/>
          <p:nvPr/>
        </p:nvSpPr>
        <p:spPr>
          <a:xfrm>
            <a:off x="6126480" y="4078224"/>
            <a:ext cx="5513832" cy="603504"/>
          </a:xfrm>
          <a:prstGeom prst="roundRect">
            <a:avLst>
              <a:gd fmla="val 1212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6291072" y="4206240"/>
            <a:ext cx="365760" cy="365760"/>
          </a:xfrm>
          <a:prstGeom prst="ellipse">
            <a:avLst/>
          </a:prstGeom>
          <a:solidFill>
            <a:srgbClr val="0C1326"/>
          </a:solidFill>
          <a:ln cap="flat" cmpd="sng" w="139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8" name="Google Shape;228;p8"/>
          <p:cNvPicPr preferRelativeResize="0"/>
          <p:nvPr/>
        </p:nvPicPr>
        <p:blipFill rotWithShape="1">
          <a:blip r:embed="rId6">
            <a:alphaModFix/>
          </a:blip>
          <a:srcRect b="0" l="0" r="0" t="0"/>
          <a:stretch/>
        </p:blipFill>
        <p:spPr>
          <a:xfrm>
            <a:off x="6391656" y="4306824"/>
            <a:ext cx="164592" cy="164592"/>
          </a:xfrm>
          <a:prstGeom prst="rect">
            <a:avLst/>
          </a:prstGeom>
          <a:noFill/>
          <a:ln>
            <a:noFill/>
          </a:ln>
        </p:spPr>
      </p:pic>
      <p:sp>
        <p:nvSpPr>
          <p:cNvPr id="229" name="Google Shape;229;p8"/>
          <p:cNvSpPr/>
          <p:nvPr/>
        </p:nvSpPr>
        <p:spPr>
          <a:xfrm>
            <a:off x="6784848" y="4142232"/>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Privacy</a:t>
            </a:r>
            <a:endParaRPr b="0" i="0" sz="1250" u="none" cap="none" strike="noStrike">
              <a:solidFill>
                <a:schemeClr val="dk1"/>
              </a:solidFill>
              <a:latin typeface="Calibri"/>
              <a:ea typeface="Calibri"/>
              <a:cs typeface="Calibri"/>
              <a:sym typeface="Calibri"/>
            </a:endParaRPr>
          </a:p>
        </p:txBody>
      </p:sp>
      <p:sp>
        <p:nvSpPr>
          <p:cNvPr id="230" name="Google Shape;230;p8"/>
          <p:cNvSpPr/>
          <p:nvPr/>
        </p:nvSpPr>
        <p:spPr>
          <a:xfrm>
            <a:off x="8229600" y="4142232"/>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No user content to third-party AI by default</a:t>
            </a:r>
            <a:endParaRPr b="0" i="0" sz="1050" u="none" cap="none" strike="noStrike">
              <a:solidFill>
                <a:schemeClr val="dk1"/>
              </a:solidFill>
              <a:latin typeface="Calibri"/>
              <a:ea typeface="Calibri"/>
              <a:cs typeface="Calibri"/>
              <a:sym typeface="Calibri"/>
            </a:endParaRPr>
          </a:p>
        </p:txBody>
      </p:sp>
      <p:sp>
        <p:nvSpPr>
          <p:cNvPr id="231" name="Google Shape;231;p8"/>
          <p:cNvSpPr/>
          <p:nvPr/>
        </p:nvSpPr>
        <p:spPr>
          <a:xfrm>
            <a:off x="6126480" y="4791456"/>
            <a:ext cx="5513832" cy="603504"/>
          </a:xfrm>
          <a:prstGeom prst="roundRect">
            <a:avLst>
              <a:gd fmla="val 1212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6291072" y="4919472"/>
            <a:ext cx="365760" cy="365760"/>
          </a:xfrm>
          <a:prstGeom prst="ellipse">
            <a:avLst/>
          </a:prstGeom>
          <a:solidFill>
            <a:srgbClr val="0C1326"/>
          </a:solidFill>
          <a:ln cap="flat" cmpd="sng" w="139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3" name="Google Shape;233;p8"/>
          <p:cNvPicPr preferRelativeResize="0"/>
          <p:nvPr/>
        </p:nvPicPr>
        <p:blipFill rotWithShape="1">
          <a:blip r:embed="rId7">
            <a:alphaModFix/>
          </a:blip>
          <a:srcRect b="0" l="0" r="0" t="0"/>
          <a:stretch/>
        </p:blipFill>
        <p:spPr>
          <a:xfrm>
            <a:off x="6391656" y="5020056"/>
            <a:ext cx="164592" cy="164592"/>
          </a:xfrm>
          <a:prstGeom prst="rect">
            <a:avLst/>
          </a:prstGeom>
          <a:noFill/>
          <a:ln>
            <a:noFill/>
          </a:ln>
        </p:spPr>
      </p:pic>
      <p:sp>
        <p:nvSpPr>
          <p:cNvPr id="234" name="Google Shape;234;p8"/>
          <p:cNvSpPr/>
          <p:nvPr/>
        </p:nvSpPr>
        <p:spPr>
          <a:xfrm>
            <a:off x="6784848" y="4855464"/>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Reliability</a:t>
            </a:r>
            <a:endParaRPr b="0" i="0" sz="1250" u="none" cap="none" strike="noStrike">
              <a:solidFill>
                <a:schemeClr val="dk1"/>
              </a:solidFill>
              <a:latin typeface="Calibri"/>
              <a:ea typeface="Calibri"/>
              <a:cs typeface="Calibri"/>
              <a:sym typeface="Calibri"/>
            </a:endParaRPr>
          </a:p>
        </p:txBody>
      </p:sp>
      <p:sp>
        <p:nvSpPr>
          <p:cNvPr id="235" name="Google Shape;235;p8"/>
          <p:cNvSpPr/>
          <p:nvPr/>
        </p:nvSpPr>
        <p:spPr>
          <a:xfrm>
            <a:off x="8229600" y="4855464"/>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Survive API failures with backoff retry</a:t>
            </a:r>
            <a:endParaRPr b="0" i="0" sz="1050" u="none" cap="none" strike="noStrike">
              <a:solidFill>
                <a:schemeClr val="dk1"/>
              </a:solidFill>
              <a:latin typeface="Calibri"/>
              <a:ea typeface="Calibri"/>
              <a:cs typeface="Calibri"/>
              <a:sym typeface="Calibri"/>
            </a:endParaRPr>
          </a:p>
        </p:txBody>
      </p:sp>
      <p:sp>
        <p:nvSpPr>
          <p:cNvPr id="236" name="Google Shape;236;p8"/>
          <p:cNvSpPr/>
          <p:nvPr/>
        </p:nvSpPr>
        <p:spPr>
          <a:xfrm>
            <a:off x="6126480" y="5504688"/>
            <a:ext cx="5513832" cy="603504"/>
          </a:xfrm>
          <a:prstGeom prst="roundRect">
            <a:avLst>
              <a:gd fmla="val 1212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6291072" y="5632704"/>
            <a:ext cx="365760" cy="365760"/>
          </a:xfrm>
          <a:prstGeom prst="ellipse">
            <a:avLst/>
          </a:prstGeom>
          <a:solidFill>
            <a:srgbClr val="0C1326"/>
          </a:solidFill>
          <a:ln cap="flat" cmpd="sng" w="13950">
            <a:solidFill>
              <a:srgbClr val="60A5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8" name="Google Shape;238;p8"/>
          <p:cNvPicPr preferRelativeResize="0"/>
          <p:nvPr/>
        </p:nvPicPr>
        <p:blipFill rotWithShape="1">
          <a:blip r:embed="rId8">
            <a:alphaModFix/>
          </a:blip>
          <a:srcRect b="0" l="0" r="0" t="0"/>
          <a:stretch/>
        </p:blipFill>
        <p:spPr>
          <a:xfrm>
            <a:off x="6391656" y="5733288"/>
            <a:ext cx="164592" cy="164592"/>
          </a:xfrm>
          <a:prstGeom prst="rect">
            <a:avLst/>
          </a:prstGeom>
          <a:noFill/>
          <a:ln>
            <a:noFill/>
          </a:ln>
        </p:spPr>
      </p:pic>
      <p:sp>
        <p:nvSpPr>
          <p:cNvPr id="239" name="Google Shape;239;p8"/>
          <p:cNvSpPr/>
          <p:nvPr/>
        </p:nvSpPr>
        <p:spPr>
          <a:xfrm>
            <a:off x="6784848" y="5568696"/>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Portability</a:t>
            </a:r>
            <a:endParaRPr b="0" i="0" sz="1250" u="none" cap="none" strike="noStrike">
              <a:solidFill>
                <a:schemeClr val="dk1"/>
              </a:solidFill>
              <a:latin typeface="Calibri"/>
              <a:ea typeface="Calibri"/>
              <a:cs typeface="Calibri"/>
              <a:sym typeface="Calibri"/>
            </a:endParaRPr>
          </a:p>
        </p:txBody>
      </p:sp>
      <p:sp>
        <p:nvSpPr>
          <p:cNvPr id="240" name="Google Shape;240;p8"/>
          <p:cNvSpPr/>
          <p:nvPr/>
        </p:nvSpPr>
        <p:spPr>
          <a:xfrm>
            <a:off x="8229600" y="5568696"/>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Same on macOS &amp; Linux; voice degrades gracefully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245" name="Shape 245"/>
        <p:cNvGrpSpPr/>
        <p:nvPr/>
      </p:nvGrpSpPr>
      <p:grpSpPr>
        <a:xfrm>
          <a:off x="0" y="0"/>
          <a:ext cx="0" cy="0"/>
          <a:chOff x="0" y="0"/>
          <a:chExt cx="0" cy="0"/>
        </a:xfrm>
      </p:grpSpPr>
      <p:sp>
        <p:nvSpPr>
          <p:cNvPr id="246" name="Google Shape;246;p9"/>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05</a:t>
            </a:r>
            <a:endParaRPr b="0" i="0" sz="3000" u="none" cap="none" strike="noStrike">
              <a:solidFill>
                <a:schemeClr val="dk1"/>
              </a:solidFill>
              <a:latin typeface="Calibri"/>
              <a:ea typeface="Calibri"/>
              <a:cs typeface="Calibri"/>
              <a:sym typeface="Calibri"/>
            </a:endParaRPr>
          </a:p>
        </p:txBody>
      </p:sp>
      <p:sp>
        <p:nvSpPr>
          <p:cNvPr id="247" name="Google Shape;247;p9"/>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5B · DESIGN — ARCHITECTURE</a:t>
            </a:r>
            <a:endParaRPr b="0" i="0" sz="1200" u="none" cap="none" strike="noStrike">
              <a:solidFill>
                <a:schemeClr val="dk1"/>
              </a:solidFill>
              <a:latin typeface="Calibri"/>
              <a:ea typeface="Calibri"/>
              <a:cs typeface="Calibri"/>
              <a:sym typeface="Calibri"/>
            </a:endParaRPr>
          </a:p>
        </p:txBody>
      </p:sp>
      <p:sp>
        <p:nvSpPr>
          <p:cNvPr id="248" name="Google Shape;248;p9"/>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Nine agents, one orchestrator, seventeen tools</a:t>
            </a:r>
            <a:endParaRPr b="0" i="0" sz="3000" u="none" cap="none" strike="noStrike">
              <a:solidFill>
                <a:schemeClr val="dk1"/>
              </a:solidFill>
              <a:latin typeface="Calibri"/>
              <a:ea typeface="Calibri"/>
              <a:cs typeface="Calibri"/>
              <a:sym typeface="Calibri"/>
            </a:endParaRPr>
          </a:p>
        </p:txBody>
      </p:sp>
      <p:sp>
        <p:nvSpPr>
          <p:cNvPr id="249" name="Google Shape;249;p9"/>
          <p:cNvSpPr/>
          <p:nvPr/>
        </p:nvSpPr>
        <p:spPr>
          <a:xfrm>
            <a:off x="548640" y="1444752"/>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300"/>
              <a:buFont typeface="Calibri"/>
              <a:buNone/>
            </a:pPr>
            <a:r>
              <a:rPr b="0" i="1" lang="en-US" sz="1300" u="none" cap="none" strike="noStrike">
                <a:solidFill>
                  <a:srgbClr val="93A4BC"/>
                </a:solidFill>
                <a:latin typeface="Calibri"/>
                <a:ea typeface="Calibri"/>
                <a:cs typeface="Calibri"/>
                <a:sym typeface="Calibri"/>
              </a:rPr>
              <a:t>Nine agents share the work, so no single model has to plan, remember, act and check all at once.</a:t>
            </a:r>
            <a:endParaRPr b="0" i="0" sz="1300" u="none" cap="none" strike="noStrike">
              <a:solidFill>
                <a:schemeClr val="dk1"/>
              </a:solidFill>
              <a:latin typeface="Calibri"/>
              <a:ea typeface="Calibri"/>
              <a:cs typeface="Calibri"/>
              <a:sym typeface="Calibri"/>
            </a:endParaRPr>
          </a:p>
        </p:txBody>
      </p:sp>
      <p:sp>
        <p:nvSpPr>
          <p:cNvPr id="250" name="Google Shape;250;p9"/>
          <p:cNvSpPr/>
          <p:nvPr/>
        </p:nvSpPr>
        <p:spPr>
          <a:xfrm>
            <a:off x="548640" y="2011680"/>
            <a:ext cx="1426464" cy="566928"/>
          </a:xfrm>
          <a:prstGeom prst="roundRect">
            <a:avLst>
              <a:gd fmla="val 9677" name="adj"/>
            </a:avLst>
          </a:prstGeom>
          <a:solidFill>
            <a:srgbClr val="141D33"/>
          </a:solidFill>
          <a:ln cap="flat" cmpd="sng" w="1522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54864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Router</a:t>
            </a:r>
            <a:endParaRPr b="0" i="0" sz="1250" u="none" cap="none" strike="noStrike">
              <a:solidFill>
                <a:schemeClr val="dk1"/>
              </a:solidFill>
              <a:latin typeface="Calibri"/>
              <a:ea typeface="Calibri"/>
              <a:cs typeface="Calibri"/>
              <a:sym typeface="Calibri"/>
            </a:endParaRPr>
          </a:p>
        </p:txBody>
      </p:sp>
      <p:sp>
        <p:nvSpPr>
          <p:cNvPr id="252" name="Google Shape;252;p9"/>
          <p:cNvSpPr/>
          <p:nvPr/>
        </p:nvSpPr>
        <p:spPr>
          <a:xfrm>
            <a:off x="1956816" y="2011680"/>
            <a:ext cx="16459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800"/>
              <a:buFont typeface="Trebuchet MS"/>
              <a:buNone/>
            </a:pPr>
            <a:r>
              <a:rPr b="1" i="0" lang="en-US" sz="1800" u="none" cap="none" strike="noStrike">
                <a:solidFill>
                  <a:srgbClr val="22D3EE"/>
                </a:solidFill>
                <a:latin typeface="Trebuchet MS"/>
                <a:ea typeface="Trebuchet MS"/>
                <a:cs typeface="Trebuchet MS"/>
                <a:sym typeface="Trebuchet MS"/>
              </a:rPr>
              <a:t>›</a:t>
            </a:r>
            <a:endParaRPr b="0" i="0" sz="1800" u="none" cap="none" strike="noStrike">
              <a:solidFill>
                <a:schemeClr val="dk1"/>
              </a:solidFill>
              <a:latin typeface="Calibri"/>
              <a:ea typeface="Calibri"/>
              <a:cs typeface="Calibri"/>
              <a:sym typeface="Calibri"/>
            </a:endParaRPr>
          </a:p>
        </p:txBody>
      </p:sp>
      <p:sp>
        <p:nvSpPr>
          <p:cNvPr id="253" name="Google Shape;253;p9"/>
          <p:cNvSpPr/>
          <p:nvPr/>
        </p:nvSpPr>
        <p:spPr>
          <a:xfrm>
            <a:off x="2103120" y="2011680"/>
            <a:ext cx="1426464" cy="566928"/>
          </a:xfrm>
          <a:prstGeom prst="roundRect">
            <a:avLst>
              <a:gd fmla="val 9677" name="adj"/>
            </a:avLst>
          </a:prstGeom>
          <a:solidFill>
            <a:srgbClr val="141D33"/>
          </a:solidFill>
          <a:ln cap="flat" cmpd="sng" w="1522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210312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Memory</a:t>
            </a:r>
            <a:endParaRPr b="0" i="0" sz="1250" u="none" cap="none" strike="noStrike">
              <a:solidFill>
                <a:schemeClr val="dk1"/>
              </a:solidFill>
              <a:latin typeface="Calibri"/>
              <a:ea typeface="Calibri"/>
              <a:cs typeface="Calibri"/>
              <a:sym typeface="Calibri"/>
            </a:endParaRPr>
          </a:p>
        </p:txBody>
      </p:sp>
      <p:sp>
        <p:nvSpPr>
          <p:cNvPr id="255" name="Google Shape;255;p9"/>
          <p:cNvSpPr/>
          <p:nvPr/>
        </p:nvSpPr>
        <p:spPr>
          <a:xfrm>
            <a:off x="3511296" y="2011680"/>
            <a:ext cx="16459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800"/>
              <a:buFont typeface="Trebuchet MS"/>
              <a:buNone/>
            </a:pPr>
            <a:r>
              <a:rPr b="1" i="0" lang="en-US" sz="1800" u="none" cap="none" strike="noStrike">
                <a:solidFill>
                  <a:srgbClr val="22D3EE"/>
                </a:solidFill>
                <a:latin typeface="Trebuchet MS"/>
                <a:ea typeface="Trebuchet MS"/>
                <a:cs typeface="Trebuchet MS"/>
                <a:sym typeface="Trebuchet MS"/>
              </a:rPr>
              <a:t>›</a:t>
            </a:r>
            <a:endParaRPr b="0" i="0" sz="1800" u="none" cap="none" strike="noStrike">
              <a:solidFill>
                <a:schemeClr val="dk1"/>
              </a:solidFill>
              <a:latin typeface="Calibri"/>
              <a:ea typeface="Calibri"/>
              <a:cs typeface="Calibri"/>
              <a:sym typeface="Calibri"/>
            </a:endParaRPr>
          </a:p>
        </p:txBody>
      </p:sp>
      <p:sp>
        <p:nvSpPr>
          <p:cNvPr id="256" name="Google Shape;256;p9"/>
          <p:cNvSpPr/>
          <p:nvPr/>
        </p:nvSpPr>
        <p:spPr>
          <a:xfrm>
            <a:off x="3657600" y="2011680"/>
            <a:ext cx="1426464" cy="566928"/>
          </a:xfrm>
          <a:prstGeom prst="roundRect">
            <a:avLst>
              <a:gd fmla="val 9677" name="adj"/>
            </a:avLst>
          </a:prstGeom>
          <a:solidFill>
            <a:srgbClr val="141D33"/>
          </a:solidFill>
          <a:ln cap="flat" cmpd="sng" w="1522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365760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Planner</a:t>
            </a:r>
            <a:endParaRPr b="0" i="0" sz="1250" u="none" cap="none" strike="noStrike">
              <a:solidFill>
                <a:schemeClr val="dk1"/>
              </a:solidFill>
              <a:latin typeface="Calibri"/>
              <a:ea typeface="Calibri"/>
              <a:cs typeface="Calibri"/>
              <a:sym typeface="Calibri"/>
            </a:endParaRPr>
          </a:p>
        </p:txBody>
      </p:sp>
      <p:sp>
        <p:nvSpPr>
          <p:cNvPr id="258" name="Google Shape;258;p9"/>
          <p:cNvSpPr/>
          <p:nvPr/>
        </p:nvSpPr>
        <p:spPr>
          <a:xfrm>
            <a:off x="5065776" y="2011680"/>
            <a:ext cx="16459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800"/>
              <a:buFont typeface="Trebuchet MS"/>
              <a:buNone/>
            </a:pPr>
            <a:r>
              <a:rPr b="1" i="0" lang="en-US" sz="1800" u="none" cap="none" strike="noStrike">
                <a:solidFill>
                  <a:srgbClr val="22D3EE"/>
                </a:solidFill>
                <a:latin typeface="Trebuchet MS"/>
                <a:ea typeface="Trebuchet MS"/>
                <a:cs typeface="Trebuchet MS"/>
                <a:sym typeface="Trebuchet MS"/>
              </a:rPr>
              <a:t>›</a:t>
            </a:r>
            <a:endParaRPr b="0" i="0" sz="1800" u="none" cap="none" strike="noStrike">
              <a:solidFill>
                <a:schemeClr val="dk1"/>
              </a:solidFill>
              <a:latin typeface="Calibri"/>
              <a:ea typeface="Calibri"/>
              <a:cs typeface="Calibri"/>
              <a:sym typeface="Calibri"/>
            </a:endParaRPr>
          </a:p>
        </p:txBody>
      </p:sp>
      <p:sp>
        <p:nvSpPr>
          <p:cNvPr id="259" name="Google Shape;259;p9"/>
          <p:cNvSpPr/>
          <p:nvPr/>
        </p:nvSpPr>
        <p:spPr>
          <a:xfrm>
            <a:off x="5212080" y="2011680"/>
            <a:ext cx="1426464" cy="566928"/>
          </a:xfrm>
          <a:prstGeom prst="roundRect">
            <a:avLst>
              <a:gd fmla="val 9677" name="adj"/>
            </a:avLst>
          </a:prstGeom>
          <a:solidFill>
            <a:srgbClr val="1B2742"/>
          </a:solidFill>
          <a:ln cap="flat" cmpd="sng" w="15225">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521208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250"/>
              <a:buFont typeface="Trebuchet MS"/>
              <a:buNone/>
            </a:pPr>
            <a:r>
              <a:rPr b="1" i="0" lang="en-US" sz="1250" u="none" cap="none" strike="noStrike">
                <a:solidFill>
                  <a:srgbClr val="FBBF24"/>
                </a:solidFill>
                <a:latin typeface="Trebuchet MS"/>
                <a:ea typeface="Trebuchet MS"/>
                <a:cs typeface="Trebuchet MS"/>
                <a:sym typeface="Trebuchet MS"/>
              </a:rPr>
              <a:t>Critic</a:t>
            </a:r>
            <a:endParaRPr b="0" i="0" sz="1250" u="none" cap="none" strike="noStrike">
              <a:solidFill>
                <a:schemeClr val="dk1"/>
              </a:solidFill>
              <a:latin typeface="Calibri"/>
              <a:ea typeface="Calibri"/>
              <a:cs typeface="Calibri"/>
              <a:sym typeface="Calibri"/>
            </a:endParaRPr>
          </a:p>
        </p:txBody>
      </p:sp>
      <p:sp>
        <p:nvSpPr>
          <p:cNvPr id="261" name="Google Shape;261;p9"/>
          <p:cNvSpPr/>
          <p:nvPr/>
        </p:nvSpPr>
        <p:spPr>
          <a:xfrm>
            <a:off x="6620256" y="2011680"/>
            <a:ext cx="16459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800"/>
              <a:buFont typeface="Trebuchet MS"/>
              <a:buNone/>
            </a:pPr>
            <a:r>
              <a:rPr b="1" i="0" lang="en-US" sz="1800" u="none" cap="none" strike="noStrike">
                <a:solidFill>
                  <a:srgbClr val="22D3EE"/>
                </a:solidFill>
                <a:latin typeface="Trebuchet MS"/>
                <a:ea typeface="Trebuchet MS"/>
                <a:cs typeface="Trebuchet MS"/>
                <a:sym typeface="Trebuchet MS"/>
              </a:rPr>
              <a:t>›</a:t>
            </a:r>
            <a:endParaRPr b="0" i="0" sz="1800" u="none" cap="none" strike="noStrike">
              <a:solidFill>
                <a:schemeClr val="dk1"/>
              </a:solidFill>
              <a:latin typeface="Calibri"/>
              <a:ea typeface="Calibri"/>
              <a:cs typeface="Calibri"/>
              <a:sym typeface="Calibri"/>
            </a:endParaRPr>
          </a:p>
        </p:txBody>
      </p:sp>
      <p:sp>
        <p:nvSpPr>
          <p:cNvPr id="262" name="Google Shape;262;p9"/>
          <p:cNvSpPr/>
          <p:nvPr/>
        </p:nvSpPr>
        <p:spPr>
          <a:xfrm>
            <a:off x="6766560" y="2011680"/>
            <a:ext cx="1426464" cy="566928"/>
          </a:xfrm>
          <a:prstGeom prst="roundRect">
            <a:avLst>
              <a:gd fmla="val 9677" name="adj"/>
            </a:avLst>
          </a:prstGeom>
          <a:solidFill>
            <a:srgbClr val="141D33"/>
          </a:solidFill>
          <a:ln cap="flat" cmpd="sng" w="1522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676656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Executor</a:t>
            </a:r>
            <a:endParaRPr b="0" i="0" sz="1250" u="none" cap="none" strike="noStrike">
              <a:solidFill>
                <a:schemeClr val="dk1"/>
              </a:solidFill>
              <a:latin typeface="Calibri"/>
              <a:ea typeface="Calibri"/>
              <a:cs typeface="Calibri"/>
              <a:sym typeface="Calibri"/>
            </a:endParaRPr>
          </a:p>
        </p:txBody>
      </p:sp>
      <p:sp>
        <p:nvSpPr>
          <p:cNvPr id="264" name="Google Shape;264;p9"/>
          <p:cNvSpPr/>
          <p:nvPr/>
        </p:nvSpPr>
        <p:spPr>
          <a:xfrm>
            <a:off x="8174736" y="2011680"/>
            <a:ext cx="16459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800"/>
              <a:buFont typeface="Trebuchet MS"/>
              <a:buNone/>
            </a:pPr>
            <a:r>
              <a:rPr b="1" i="0" lang="en-US" sz="1800" u="none" cap="none" strike="noStrike">
                <a:solidFill>
                  <a:srgbClr val="22D3EE"/>
                </a:solidFill>
                <a:latin typeface="Trebuchet MS"/>
                <a:ea typeface="Trebuchet MS"/>
                <a:cs typeface="Trebuchet MS"/>
                <a:sym typeface="Trebuchet MS"/>
              </a:rPr>
              <a:t>›</a:t>
            </a:r>
            <a:endParaRPr b="0" i="0" sz="1800" u="none" cap="none" strike="noStrike">
              <a:solidFill>
                <a:schemeClr val="dk1"/>
              </a:solidFill>
              <a:latin typeface="Calibri"/>
              <a:ea typeface="Calibri"/>
              <a:cs typeface="Calibri"/>
              <a:sym typeface="Calibri"/>
            </a:endParaRPr>
          </a:p>
        </p:txBody>
      </p:sp>
      <p:sp>
        <p:nvSpPr>
          <p:cNvPr id="265" name="Google Shape;265;p9"/>
          <p:cNvSpPr/>
          <p:nvPr/>
        </p:nvSpPr>
        <p:spPr>
          <a:xfrm>
            <a:off x="8321040" y="2011680"/>
            <a:ext cx="1426464" cy="566928"/>
          </a:xfrm>
          <a:prstGeom prst="roundRect">
            <a:avLst>
              <a:gd fmla="val 9677" name="adj"/>
            </a:avLst>
          </a:prstGeom>
          <a:solidFill>
            <a:srgbClr val="1B2742"/>
          </a:solidFill>
          <a:ln cap="flat" cmpd="sng" w="15225">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832104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250"/>
              <a:buFont typeface="Trebuchet MS"/>
              <a:buNone/>
            </a:pPr>
            <a:r>
              <a:rPr b="1" i="0" lang="en-US" sz="1250" u="none" cap="none" strike="noStrike">
                <a:solidFill>
                  <a:srgbClr val="FBBF24"/>
                </a:solidFill>
                <a:latin typeface="Trebuchet MS"/>
                <a:ea typeface="Trebuchet MS"/>
                <a:cs typeface="Trebuchet MS"/>
                <a:sym typeface="Trebuchet MS"/>
              </a:rPr>
              <a:t>Critic</a:t>
            </a:r>
            <a:endParaRPr b="0" i="0" sz="1250" u="none" cap="none" strike="noStrike">
              <a:solidFill>
                <a:schemeClr val="dk1"/>
              </a:solidFill>
              <a:latin typeface="Calibri"/>
              <a:ea typeface="Calibri"/>
              <a:cs typeface="Calibri"/>
              <a:sym typeface="Calibri"/>
            </a:endParaRPr>
          </a:p>
        </p:txBody>
      </p:sp>
      <p:sp>
        <p:nvSpPr>
          <p:cNvPr id="267" name="Google Shape;267;p9"/>
          <p:cNvSpPr/>
          <p:nvPr/>
        </p:nvSpPr>
        <p:spPr>
          <a:xfrm>
            <a:off x="9729216" y="2011680"/>
            <a:ext cx="16459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1800"/>
              <a:buFont typeface="Trebuchet MS"/>
              <a:buNone/>
            </a:pPr>
            <a:r>
              <a:rPr b="1" i="0" lang="en-US" sz="1800" u="none" cap="none" strike="noStrike">
                <a:solidFill>
                  <a:srgbClr val="22D3EE"/>
                </a:solidFill>
                <a:latin typeface="Trebuchet MS"/>
                <a:ea typeface="Trebuchet MS"/>
                <a:cs typeface="Trebuchet MS"/>
                <a:sym typeface="Trebuchet MS"/>
              </a:rPr>
              <a:t>›</a:t>
            </a:r>
            <a:endParaRPr b="0" i="0" sz="1800" u="none" cap="none" strike="noStrike">
              <a:solidFill>
                <a:schemeClr val="dk1"/>
              </a:solidFill>
              <a:latin typeface="Calibri"/>
              <a:ea typeface="Calibri"/>
              <a:cs typeface="Calibri"/>
              <a:sym typeface="Calibri"/>
            </a:endParaRPr>
          </a:p>
        </p:txBody>
      </p:sp>
      <p:sp>
        <p:nvSpPr>
          <p:cNvPr id="268" name="Google Shape;268;p9"/>
          <p:cNvSpPr/>
          <p:nvPr/>
        </p:nvSpPr>
        <p:spPr>
          <a:xfrm>
            <a:off x="9875520" y="2011680"/>
            <a:ext cx="1426464" cy="566928"/>
          </a:xfrm>
          <a:prstGeom prst="roundRect">
            <a:avLst>
              <a:gd fmla="val 9677" name="adj"/>
            </a:avLst>
          </a:prstGeom>
          <a:solidFill>
            <a:srgbClr val="141D33"/>
          </a:solidFill>
          <a:ln cap="flat" cmpd="sng" w="1522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9875520" y="2011680"/>
            <a:ext cx="1426464"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Evaluator</a:t>
            </a:r>
            <a:endParaRPr b="0" i="0" sz="1250" u="none" cap="none" strike="noStrike">
              <a:solidFill>
                <a:schemeClr val="dk1"/>
              </a:solidFill>
              <a:latin typeface="Calibri"/>
              <a:ea typeface="Calibri"/>
              <a:cs typeface="Calibri"/>
              <a:sym typeface="Calibri"/>
            </a:endParaRPr>
          </a:p>
        </p:txBody>
      </p:sp>
      <p:sp>
        <p:nvSpPr>
          <p:cNvPr id="270" name="Google Shape;270;p9"/>
          <p:cNvSpPr/>
          <p:nvPr/>
        </p:nvSpPr>
        <p:spPr>
          <a:xfrm>
            <a:off x="548640" y="261518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1" lang="en-US" sz="1050" u="none" cap="none" strike="noStrike">
                <a:solidFill>
                  <a:srgbClr val="93A4BC"/>
                </a:solidFill>
                <a:latin typeface="Calibri"/>
                <a:ea typeface="Calibri"/>
                <a:cs typeface="Calibri"/>
                <a:sym typeface="Calibri"/>
              </a:rPr>
              <a:t>Main request flow. The Critic checks the plan before it runs and the result after, and asks for a redo when needed.</a:t>
            </a:r>
            <a:endParaRPr b="0" i="0" sz="1050" u="none" cap="none" strike="noStrike">
              <a:solidFill>
                <a:schemeClr val="dk1"/>
              </a:solidFill>
              <a:latin typeface="Calibri"/>
              <a:ea typeface="Calibri"/>
              <a:cs typeface="Calibri"/>
              <a:sym typeface="Calibri"/>
            </a:endParaRPr>
          </a:p>
        </p:txBody>
      </p:sp>
      <p:sp>
        <p:nvSpPr>
          <p:cNvPr id="271" name="Google Shape;271;p9"/>
          <p:cNvSpPr/>
          <p:nvPr/>
        </p:nvSpPr>
        <p:spPr>
          <a:xfrm>
            <a:off x="548640" y="30358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300"/>
              <a:buFont typeface="Trebuchet MS"/>
              <a:buNone/>
            </a:pPr>
            <a:r>
              <a:rPr b="1" i="0" lang="en-US" sz="1300" u="none" cap="none" strike="noStrike">
                <a:solidFill>
                  <a:srgbClr val="22D3EE"/>
                </a:solidFill>
                <a:latin typeface="Trebuchet MS"/>
                <a:ea typeface="Trebuchet MS"/>
                <a:cs typeface="Trebuchet MS"/>
                <a:sym typeface="Trebuchet MS"/>
              </a:rPr>
              <a:t>TIER-BASED ROUTING — PIPELINE DEPTH MATCHES TASK COMPLEXITY</a:t>
            </a:r>
            <a:endParaRPr b="0" i="0" sz="1300" u="none" cap="none" strike="noStrike">
              <a:solidFill>
                <a:schemeClr val="dk1"/>
              </a:solidFill>
              <a:latin typeface="Calibri"/>
              <a:ea typeface="Calibri"/>
              <a:cs typeface="Calibri"/>
              <a:sym typeface="Calibri"/>
            </a:endParaRPr>
          </a:p>
        </p:txBody>
      </p:sp>
      <p:sp>
        <p:nvSpPr>
          <p:cNvPr id="272" name="Google Shape;272;p9"/>
          <p:cNvSpPr/>
          <p:nvPr/>
        </p:nvSpPr>
        <p:spPr>
          <a:xfrm>
            <a:off x="548640" y="3456432"/>
            <a:ext cx="3657600" cy="1828800"/>
          </a:xfrm>
          <a:prstGeom prst="roundRect">
            <a:avLst>
              <a:gd fmla="val 400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548640" y="3456432"/>
            <a:ext cx="3657600" cy="64008"/>
          </a:xfrm>
          <a:prstGeom prst="rect">
            <a:avLst/>
          </a:prstGeom>
          <a:solidFill>
            <a:srgbClr val="34D3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804672" y="3621024"/>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1300"/>
              <a:buFont typeface="Trebuchet MS"/>
              <a:buNone/>
            </a:pPr>
            <a:r>
              <a:rPr b="1" i="0" lang="en-US" sz="1300" u="none" cap="none" strike="noStrike">
                <a:solidFill>
                  <a:srgbClr val="34D399"/>
                </a:solidFill>
                <a:latin typeface="Trebuchet MS"/>
                <a:ea typeface="Trebuchet MS"/>
                <a:cs typeface="Trebuchet MS"/>
                <a:sym typeface="Trebuchet MS"/>
              </a:rPr>
              <a:t>TIER 1</a:t>
            </a:r>
            <a:endParaRPr b="0" i="0" sz="1300" u="none" cap="none" strike="noStrike">
              <a:solidFill>
                <a:schemeClr val="dk1"/>
              </a:solidFill>
              <a:latin typeface="Calibri"/>
              <a:ea typeface="Calibri"/>
              <a:cs typeface="Calibri"/>
              <a:sym typeface="Calibri"/>
            </a:endParaRPr>
          </a:p>
        </p:txBody>
      </p:sp>
      <p:sp>
        <p:nvSpPr>
          <p:cNvPr id="275" name="Google Shape;275;p9"/>
          <p:cNvSpPr/>
          <p:nvPr/>
        </p:nvSpPr>
        <p:spPr>
          <a:xfrm>
            <a:off x="2377440" y="3593592"/>
            <a:ext cx="16459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EDF6"/>
              </a:buClr>
              <a:buSzPts val="1900"/>
              <a:buFont typeface="Trebuchet MS"/>
              <a:buNone/>
            </a:pPr>
            <a:r>
              <a:rPr b="1" i="0" lang="en-US" sz="1900" u="none" cap="none" strike="noStrike">
                <a:solidFill>
                  <a:srgbClr val="E6EDF6"/>
                </a:solidFill>
                <a:latin typeface="Trebuchet MS"/>
                <a:ea typeface="Trebuchet MS"/>
                <a:cs typeface="Trebuchet MS"/>
                <a:sym typeface="Trebuchet MS"/>
              </a:rPr>
              <a:t>~800 ms</a:t>
            </a:r>
            <a:endParaRPr b="0" i="0" sz="1900" u="none" cap="none" strike="noStrike">
              <a:solidFill>
                <a:schemeClr val="dk1"/>
              </a:solidFill>
              <a:latin typeface="Calibri"/>
              <a:ea typeface="Calibri"/>
              <a:cs typeface="Calibri"/>
              <a:sym typeface="Calibri"/>
            </a:endParaRPr>
          </a:p>
        </p:txBody>
      </p:sp>
      <p:sp>
        <p:nvSpPr>
          <p:cNvPr id="276" name="Google Shape;276;p9"/>
          <p:cNvSpPr/>
          <p:nvPr/>
        </p:nvSpPr>
        <p:spPr>
          <a:xfrm>
            <a:off x="804672" y="4041648"/>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Tool-only</a:t>
            </a:r>
            <a:endParaRPr b="0" i="0" sz="1500" u="none" cap="none" strike="noStrike">
              <a:solidFill>
                <a:schemeClr val="dk1"/>
              </a:solidFill>
              <a:latin typeface="Calibri"/>
              <a:ea typeface="Calibri"/>
              <a:cs typeface="Calibri"/>
              <a:sym typeface="Calibri"/>
            </a:endParaRPr>
          </a:p>
        </p:txBody>
      </p:sp>
      <p:sp>
        <p:nvSpPr>
          <p:cNvPr id="277" name="Google Shape;277;p9"/>
          <p:cNvSpPr/>
          <p:nvPr/>
        </p:nvSpPr>
        <p:spPr>
          <a:xfrm>
            <a:off x="804672" y="4407408"/>
            <a:ext cx="3200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A regex shortcut skips the planner completely</a:t>
            </a:r>
            <a:endParaRPr b="0" i="0" sz="1150" u="none" cap="none" strike="noStrike">
              <a:solidFill>
                <a:schemeClr val="dk1"/>
              </a:solidFill>
              <a:latin typeface="Calibri"/>
              <a:ea typeface="Calibri"/>
              <a:cs typeface="Calibri"/>
              <a:sym typeface="Calibri"/>
            </a:endParaRPr>
          </a:p>
        </p:txBody>
      </p:sp>
      <p:sp>
        <p:nvSpPr>
          <p:cNvPr id="278" name="Google Shape;278;p9"/>
          <p:cNvSpPr/>
          <p:nvPr/>
        </p:nvSpPr>
        <p:spPr>
          <a:xfrm>
            <a:off x="4270248" y="3456432"/>
            <a:ext cx="3657600" cy="1828800"/>
          </a:xfrm>
          <a:prstGeom prst="roundRect">
            <a:avLst>
              <a:gd fmla="val 400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4270248" y="3456432"/>
            <a:ext cx="3657600" cy="64008"/>
          </a:xfrm>
          <a:prstGeom prst="rect">
            <a:avLst/>
          </a:prstGeom>
          <a:solidFill>
            <a:srgbClr val="60A5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4526280" y="3621024"/>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1300"/>
              <a:buFont typeface="Trebuchet MS"/>
              <a:buNone/>
            </a:pPr>
            <a:r>
              <a:rPr b="1" i="0" lang="en-US" sz="1300" u="none" cap="none" strike="noStrike">
                <a:solidFill>
                  <a:srgbClr val="60A5FA"/>
                </a:solidFill>
                <a:latin typeface="Trebuchet MS"/>
                <a:ea typeface="Trebuchet MS"/>
                <a:cs typeface="Trebuchet MS"/>
                <a:sym typeface="Trebuchet MS"/>
              </a:rPr>
              <a:t>TIER 2</a:t>
            </a:r>
            <a:endParaRPr b="0" i="0" sz="1300" u="none" cap="none" strike="noStrike">
              <a:solidFill>
                <a:schemeClr val="dk1"/>
              </a:solidFill>
              <a:latin typeface="Calibri"/>
              <a:ea typeface="Calibri"/>
              <a:cs typeface="Calibri"/>
              <a:sym typeface="Calibri"/>
            </a:endParaRPr>
          </a:p>
        </p:txBody>
      </p:sp>
      <p:sp>
        <p:nvSpPr>
          <p:cNvPr id="281" name="Google Shape;281;p9"/>
          <p:cNvSpPr/>
          <p:nvPr/>
        </p:nvSpPr>
        <p:spPr>
          <a:xfrm>
            <a:off x="6099048" y="3593592"/>
            <a:ext cx="16459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EDF6"/>
              </a:buClr>
              <a:buSzPts val="1900"/>
              <a:buFont typeface="Trebuchet MS"/>
              <a:buNone/>
            </a:pPr>
            <a:r>
              <a:rPr b="1" i="0" lang="en-US" sz="1900" u="none" cap="none" strike="noStrike">
                <a:solidFill>
                  <a:srgbClr val="E6EDF6"/>
                </a:solidFill>
                <a:latin typeface="Trebuchet MS"/>
                <a:ea typeface="Trebuchet MS"/>
                <a:cs typeface="Trebuchet MS"/>
                <a:sym typeface="Trebuchet MS"/>
              </a:rPr>
              <a:t>~3.5 s</a:t>
            </a:r>
            <a:endParaRPr b="0" i="0" sz="1900" u="none" cap="none" strike="noStrike">
              <a:solidFill>
                <a:schemeClr val="dk1"/>
              </a:solidFill>
              <a:latin typeface="Calibri"/>
              <a:ea typeface="Calibri"/>
              <a:cs typeface="Calibri"/>
              <a:sym typeface="Calibri"/>
            </a:endParaRPr>
          </a:p>
        </p:txBody>
      </p:sp>
      <p:sp>
        <p:nvSpPr>
          <p:cNvPr id="282" name="Google Shape;282;p9"/>
          <p:cNvSpPr/>
          <p:nvPr/>
        </p:nvSpPr>
        <p:spPr>
          <a:xfrm>
            <a:off x="4526280" y="4041648"/>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Single LLM hop</a:t>
            </a:r>
            <a:endParaRPr b="0" i="0" sz="1500" u="none" cap="none" strike="noStrike">
              <a:solidFill>
                <a:schemeClr val="dk1"/>
              </a:solidFill>
              <a:latin typeface="Calibri"/>
              <a:ea typeface="Calibri"/>
              <a:cs typeface="Calibri"/>
              <a:sym typeface="Calibri"/>
            </a:endParaRPr>
          </a:p>
        </p:txBody>
      </p:sp>
      <p:sp>
        <p:nvSpPr>
          <p:cNvPr id="283" name="Google Shape;283;p9"/>
          <p:cNvSpPr/>
          <p:nvPr/>
        </p:nvSpPr>
        <p:spPr>
          <a:xfrm>
            <a:off x="4526280" y="4407408"/>
            <a:ext cx="3200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One model call + one tool, no full planner or critic loop</a:t>
            </a:r>
            <a:endParaRPr b="0" i="0" sz="1150" u="none" cap="none" strike="noStrike">
              <a:solidFill>
                <a:schemeClr val="dk1"/>
              </a:solidFill>
              <a:latin typeface="Calibri"/>
              <a:ea typeface="Calibri"/>
              <a:cs typeface="Calibri"/>
              <a:sym typeface="Calibri"/>
            </a:endParaRPr>
          </a:p>
        </p:txBody>
      </p:sp>
      <p:sp>
        <p:nvSpPr>
          <p:cNvPr id="284" name="Google Shape;284;p9"/>
          <p:cNvSpPr/>
          <p:nvPr/>
        </p:nvSpPr>
        <p:spPr>
          <a:xfrm>
            <a:off x="7991856" y="3456432"/>
            <a:ext cx="3657600" cy="1828800"/>
          </a:xfrm>
          <a:prstGeom prst="roundRect">
            <a:avLst>
              <a:gd fmla="val 4000"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7991856" y="3456432"/>
            <a:ext cx="3657600" cy="64008"/>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8247888" y="3621024"/>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1300"/>
              <a:buFont typeface="Trebuchet MS"/>
              <a:buNone/>
            </a:pPr>
            <a:r>
              <a:rPr b="1" i="0" lang="en-US" sz="1300" u="none" cap="none" strike="noStrike">
                <a:solidFill>
                  <a:srgbClr val="FBBF24"/>
                </a:solidFill>
                <a:latin typeface="Trebuchet MS"/>
                <a:ea typeface="Trebuchet MS"/>
                <a:cs typeface="Trebuchet MS"/>
                <a:sym typeface="Trebuchet MS"/>
              </a:rPr>
              <a:t>TIER 3</a:t>
            </a:r>
            <a:endParaRPr b="0" i="0" sz="1300" u="none" cap="none" strike="noStrike">
              <a:solidFill>
                <a:schemeClr val="dk1"/>
              </a:solidFill>
              <a:latin typeface="Calibri"/>
              <a:ea typeface="Calibri"/>
              <a:cs typeface="Calibri"/>
              <a:sym typeface="Calibri"/>
            </a:endParaRPr>
          </a:p>
        </p:txBody>
      </p:sp>
      <p:sp>
        <p:nvSpPr>
          <p:cNvPr id="287" name="Google Shape;287;p9"/>
          <p:cNvSpPr/>
          <p:nvPr/>
        </p:nvSpPr>
        <p:spPr>
          <a:xfrm>
            <a:off x="9820656" y="3593592"/>
            <a:ext cx="16459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EDF6"/>
              </a:buClr>
              <a:buSzPts val="1900"/>
              <a:buFont typeface="Trebuchet MS"/>
              <a:buNone/>
            </a:pPr>
            <a:r>
              <a:rPr b="1" i="0" lang="en-US" sz="1900" u="none" cap="none" strike="noStrike">
                <a:solidFill>
                  <a:srgbClr val="E6EDF6"/>
                </a:solidFill>
                <a:latin typeface="Trebuchet MS"/>
                <a:ea typeface="Trebuchet MS"/>
                <a:cs typeface="Trebuchet MS"/>
                <a:sym typeface="Trebuchet MS"/>
              </a:rPr>
              <a:t>~95 s</a:t>
            </a:r>
            <a:endParaRPr b="0" i="0" sz="1900" u="none" cap="none" strike="noStrike">
              <a:solidFill>
                <a:schemeClr val="dk1"/>
              </a:solidFill>
              <a:latin typeface="Calibri"/>
              <a:ea typeface="Calibri"/>
              <a:cs typeface="Calibri"/>
              <a:sym typeface="Calibri"/>
            </a:endParaRPr>
          </a:p>
        </p:txBody>
      </p:sp>
      <p:sp>
        <p:nvSpPr>
          <p:cNvPr id="288" name="Google Shape;288;p9"/>
          <p:cNvSpPr/>
          <p:nvPr/>
        </p:nvSpPr>
        <p:spPr>
          <a:xfrm>
            <a:off x="8247888" y="4041648"/>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Full DAG planning</a:t>
            </a:r>
            <a:endParaRPr b="0" i="0" sz="1500" u="none" cap="none" strike="noStrike">
              <a:solidFill>
                <a:schemeClr val="dk1"/>
              </a:solidFill>
              <a:latin typeface="Calibri"/>
              <a:ea typeface="Calibri"/>
              <a:cs typeface="Calibri"/>
              <a:sym typeface="Calibri"/>
            </a:endParaRPr>
          </a:p>
        </p:txBody>
      </p:sp>
      <p:sp>
        <p:nvSpPr>
          <p:cNvPr id="289" name="Google Shape;289;p9"/>
          <p:cNvSpPr/>
          <p:nvPr/>
        </p:nvSpPr>
        <p:spPr>
          <a:xfrm>
            <a:off x="8247888" y="4407408"/>
            <a:ext cx="3200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The whole Router→Planner→Critic→Executor pipeline</a:t>
            </a:r>
            <a:endParaRPr b="0" i="0" sz="1150" u="none" cap="none" strike="noStrike">
              <a:solidFill>
                <a:schemeClr val="dk1"/>
              </a:solidFill>
              <a:latin typeface="Calibri"/>
              <a:ea typeface="Calibri"/>
              <a:cs typeface="Calibri"/>
              <a:sym typeface="Calibri"/>
            </a:endParaRPr>
          </a:p>
        </p:txBody>
      </p:sp>
      <p:sp>
        <p:nvSpPr>
          <p:cNvPr id="290" name="Google Shape;290;p9"/>
          <p:cNvSpPr/>
          <p:nvPr/>
        </p:nvSpPr>
        <p:spPr>
          <a:xfrm>
            <a:off x="548640" y="5440680"/>
            <a:ext cx="11091672" cy="960120"/>
          </a:xfrm>
          <a:prstGeom prst="roundRect">
            <a:avLst>
              <a:gd fmla="val 7619"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777240" y="5559552"/>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50"/>
              <a:buFont typeface="Calibri"/>
              <a:buNone/>
            </a:pPr>
            <a:r>
              <a:rPr b="1" i="0" lang="en-US" sz="1250" u="none" cap="none" strike="noStrike">
                <a:solidFill>
                  <a:srgbClr val="22D3EE"/>
                </a:solidFill>
                <a:latin typeface="Calibri"/>
                <a:ea typeface="Calibri"/>
                <a:cs typeface="Calibri"/>
                <a:sym typeface="Calibri"/>
              </a:rPr>
              <a:t>Templated injection:  </a:t>
            </a:r>
            <a:r>
              <a:rPr b="0" i="0" lang="en-US" sz="1250" u="none" cap="none" strike="noStrike">
                <a:solidFill>
                  <a:srgbClr val="E6EDF6"/>
                </a:solidFill>
                <a:latin typeface="Consolas"/>
                <a:ea typeface="Consolas"/>
                <a:cs typeface="Consolas"/>
                <a:sym typeface="Consolas"/>
              </a:rPr>
              <a:t>{subtask_1.result.field}</a:t>
            </a:r>
            <a:r>
              <a:rPr b="0" i="0" lang="en-US" sz="1250" u="none" cap="none" strike="noStrike">
                <a:solidFill>
                  <a:srgbClr val="93A4BC"/>
                </a:solidFill>
                <a:latin typeface="Calibri"/>
                <a:ea typeface="Calibri"/>
                <a:cs typeface="Calibri"/>
                <a:sym typeface="Calibri"/>
              </a:rPr>
              <a:t>  passes data between steps.    </a:t>
            </a:r>
            <a:r>
              <a:rPr b="1" i="0" lang="en-US" sz="1250" u="none" cap="none" strike="noStrike">
                <a:solidFill>
                  <a:srgbClr val="22D3EE"/>
                </a:solidFill>
                <a:latin typeface="Calibri"/>
                <a:ea typeface="Calibri"/>
                <a:cs typeface="Calibri"/>
                <a:sym typeface="Calibri"/>
              </a:rPr>
              <a:t>Hybrid routing:  </a:t>
            </a:r>
            <a:r>
              <a:rPr b="0" i="0" lang="en-US" sz="1250" u="none" cap="none" strike="noStrike">
                <a:solidFill>
                  <a:srgbClr val="93A4BC"/>
                </a:solidFill>
                <a:latin typeface="Calibri"/>
                <a:ea typeface="Calibri"/>
                <a:cs typeface="Calibri"/>
                <a:sym typeface="Calibri"/>
              </a:rPr>
              <a:t>30+ regex patterns (&lt;1 ms), then a 1B model classifier as fallback.    </a:t>
            </a:r>
            <a:r>
              <a:rPr b="1" i="0" lang="en-US" sz="1250" u="none" cap="none" strike="noStrike">
                <a:solidFill>
                  <a:srgbClr val="22D3EE"/>
                </a:solidFill>
                <a:latin typeface="Calibri"/>
                <a:ea typeface="Calibri"/>
                <a:cs typeface="Calibri"/>
                <a:sym typeface="Calibri"/>
              </a:rPr>
              <a:t>Memory:  </a:t>
            </a:r>
            <a:r>
              <a:rPr b="0" i="0" lang="en-US" sz="1250" u="none" cap="none" strike="noStrike">
                <a:solidFill>
                  <a:srgbClr val="93A4BC"/>
                </a:solidFill>
                <a:latin typeface="Calibri"/>
                <a:ea typeface="Calibri"/>
                <a:cs typeface="Calibri"/>
                <a:sym typeface="Calibri"/>
              </a:rPr>
              <a:t>ChromaDB, cosine similarity, semantic + episodic.</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296" name="Shape 296"/>
        <p:cNvGrpSpPr/>
        <p:nvPr/>
      </p:nvGrpSpPr>
      <p:grpSpPr>
        <a:xfrm>
          <a:off x="0" y="0"/>
          <a:ext cx="0" cy="0"/>
          <a:chOff x="0" y="0"/>
          <a:chExt cx="0" cy="0"/>
        </a:xfrm>
      </p:grpSpPr>
      <p:sp>
        <p:nvSpPr>
          <p:cNvPr id="297" name="Google Shape;297;p10"/>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05</a:t>
            </a:r>
            <a:endParaRPr b="0" i="0" sz="3000" u="none" cap="none" strike="noStrike">
              <a:solidFill>
                <a:schemeClr val="dk1"/>
              </a:solidFill>
              <a:latin typeface="Calibri"/>
              <a:ea typeface="Calibri"/>
              <a:cs typeface="Calibri"/>
              <a:sym typeface="Calibri"/>
            </a:endParaRPr>
          </a:p>
        </p:txBody>
      </p:sp>
      <p:sp>
        <p:nvSpPr>
          <p:cNvPr id="298" name="Google Shape;298;p10"/>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5C · DEVELOPMENT</a:t>
            </a:r>
            <a:endParaRPr b="0" i="0" sz="1200" u="none" cap="none" strike="noStrike">
              <a:solidFill>
                <a:schemeClr val="dk1"/>
              </a:solidFill>
              <a:latin typeface="Calibri"/>
              <a:ea typeface="Calibri"/>
              <a:cs typeface="Calibri"/>
              <a:sym typeface="Calibri"/>
            </a:endParaRPr>
          </a:p>
        </p:txBody>
      </p:sp>
      <p:sp>
        <p:nvSpPr>
          <p:cNvPr id="299" name="Google Shape;299;p10"/>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What it's built on, and the hard parts</a:t>
            </a:r>
            <a:endParaRPr b="0" i="0" sz="3000" u="none" cap="none" strike="noStrike">
              <a:solidFill>
                <a:schemeClr val="dk1"/>
              </a:solidFill>
              <a:latin typeface="Calibri"/>
              <a:ea typeface="Calibri"/>
              <a:cs typeface="Calibri"/>
              <a:sym typeface="Calibri"/>
            </a:endParaRPr>
          </a:p>
        </p:txBody>
      </p:sp>
      <p:sp>
        <p:nvSpPr>
          <p:cNvPr id="300" name="Google Shape;300;p10"/>
          <p:cNvSpPr/>
          <p:nvPr/>
        </p:nvSpPr>
        <p:spPr>
          <a:xfrm>
            <a:off x="548640" y="1517904"/>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300"/>
              <a:buFont typeface="Trebuchet MS"/>
              <a:buNone/>
            </a:pPr>
            <a:r>
              <a:rPr b="1" i="0" lang="en-US" sz="1300" u="none" cap="none" strike="noStrike">
                <a:solidFill>
                  <a:srgbClr val="22D3EE"/>
                </a:solidFill>
                <a:latin typeface="Trebuchet MS"/>
                <a:ea typeface="Trebuchet MS"/>
                <a:cs typeface="Trebuchet MS"/>
                <a:sym typeface="Trebuchet MS"/>
              </a:rPr>
              <a:t>TECHNOLOGY STACK</a:t>
            </a:r>
            <a:endParaRPr b="0" i="0" sz="1300" u="none" cap="none" strike="noStrike">
              <a:solidFill>
                <a:schemeClr val="dk1"/>
              </a:solidFill>
              <a:latin typeface="Calibri"/>
              <a:ea typeface="Calibri"/>
              <a:cs typeface="Calibri"/>
              <a:sym typeface="Calibri"/>
            </a:endParaRPr>
          </a:p>
        </p:txBody>
      </p:sp>
      <p:sp>
        <p:nvSpPr>
          <p:cNvPr id="301" name="Google Shape;301;p10"/>
          <p:cNvSpPr/>
          <p:nvPr/>
        </p:nvSpPr>
        <p:spPr>
          <a:xfrm>
            <a:off x="548640" y="1938528"/>
            <a:ext cx="5212080" cy="621792"/>
          </a:xfrm>
          <a:prstGeom prst="roundRect">
            <a:avLst>
              <a:gd fmla="val 11765"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a:off x="713232" y="2075688"/>
            <a:ext cx="384048" cy="384048"/>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3" name="Google Shape;303;p10"/>
          <p:cNvPicPr preferRelativeResize="0"/>
          <p:nvPr/>
        </p:nvPicPr>
        <p:blipFill rotWithShape="1">
          <a:blip r:embed="rId3">
            <a:alphaModFix/>
          </a:blip>
          <a:srcRect b="0" l="0" r="0" t="0"/>
          <a:stretch/>
        </p:blipFill>
        <p:spPr>
          <a:xfrm>
            <a:off x="822960" y="2185416"/>
            <a:ext cx="182880" cy="182880"/>
          </a:xfrm>
          <a:prstGeom prst="rect">
            <a:avLst/>
          </a:prstGeom>
          <a:noFill/>
          <a:ln>
            <a:noFill/>
          </a:ln>
        </p:spPr>
      </p:pic>
      <p:sp>
        <p:nvSpPr>
          <p:cNvPr id="304" name="Google Shape;304;p10"/>
          <p:cNvSpPr/>
          <p:nvPr/>
        </p:nvSpPr>
        <p:spPr>
          <a:xfrm>
            <a:off x="1234440" y="2011680"/>
            <a:ext cx="4434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Python 3.10 · asyncio</a:t>
            </a:r>
            <a:endParaRPr b="0" i="0" sz="1250" u="none" cap="none" strike="noStrike">
              <a:solidFill>
                <a:schemeClr val="dk1"/>
              </a:solidFill>
              <a:latin typeface="Calibri"/>
              <a:ea typeface="Calibri"/>
              <a:cs typeface="Calibri"/>
              <a:sym typeface="Calibri"/>
            </a:endParaRPr>
          </a:p>
        </p:txBody>
      </p:sp>
      <p:sp>
        <p:nvSpPr>
          <p:cNvPr id="305" name="Google Shape;305;p10"/>
          <p:cNvSpPr/>
          <p:nvPr/>
        </p:nvSpPr>
        <p:spPr>
          <a:xfrm>
            <a:off x="1234440" y="2286000"/>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Async-native agents &amp; concurrent subtasks</a:t>
            </a:r>
            <a:endParaRPr b="0" i="0" sz="1050" u="none" cap="none" strike="noStrike">
              <a:solidFill>
                <a:schemeClr val="dk1"/>
              </a:solidFill>
              <a:latin typeface="Calibri"/>
              <a:ea typeface="Calibri"/>
              <a:cs typeface="Calibri"/>
              <a:sym typeface="Calibri"/>
            </a:endParaRPr>
          </a:p>
        </p:txBody>
      </p:sp>
      <p:sp>
        <p:nvSpPr>
          <p:cNvPr id="306" name="Google Shape;306;p10"/>
          <p:cNvSpPr/>
          <p:nvPr/>
        </p:nvSpPr>
        <p:spPr>
          <a:xfrm>
            <a:off x="548640" y="2670048"/>
            <a:ext cx="5212080" cy="621792"/>
          </a:xfrm>
          <a:prstGeom prst="roundRect">
            <a:avLst>
              <a:gd fmla="val 11765"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713232" y="2807208"/>
            <a:ext cx="384048" cy="384048"/>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8" name="Google Shape;308;p10"/>
          <p:cNvPicPr preferRelativeResize="0"/>
          <p:nvPr/>
        </p:nvPicPr>
        <p:blipFill rotWithShape="1">
          <a:blip r:embed="rId4">
            <a:alphaModFix/>
          </a:blip>
          <a:srcRect b="0" l="0" r="0" t="0"/>
          <a:stretch/>
        </p:blipFill>
        <p:spPr>
          <a:xfrm>
            <a:off x="822960" y="2916936"/>
            <a:ext cx="182880" cy="182880"/>
          </a:xfrm>
          <a:prstGeom prst="rect">
            <a:avLst/>
          </a:prstGeom>
          <a:noFill/>
          <a:ln>
            <a:noFill/>
          </a:ln>
        </p:spPr>
      </p:pic>
      <p:sp>
        <p:nvSpPr>
          <p:cNvPr id="309" name="Google Shape;309;p10"/>
          <p:cNvSpPr/>
          <p:nvPr/>
        </p:nvSpPr>
        <p:spPr>
          <a:xfrm>
            <a:off x="1234440" y="2743200"/>
            <a:ext cx="4434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Ollama (llama3.2)</a:t>
            </a:r>
            <a:endParaRPr b="0" i="0" sz="1250" u="none" cap="none" strike="noStrike">
              <a:solidFill>
                <a:schemeClr val="dk1"/>
              </a:solidFill>
              <a:latin typeface="Calibri"/>
              <a:ea typeface="Calibri"/>
              <a:cs typeface="Calibri"/>
              <a:sym typeface="Calibri"/>
            </a:endParaRPr>
          </a:p>
        </p:txBody>
      </p:sp>
      <p:sp>
        <p:nvSpPr>
          <p:cNvPr id="310" name="Google Shape;310;p10"/>
          <p:cNvSpPr/>
          <p:nvPr/>
        </p:nvSpPr>
        <p:spPr>
          <a:xfrm>
            <a:off x="1234440" y="3017520"/>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Local LLM runtime; Groq 70B for cloud</a:t>
            </a:r>
            <a:endParaRPr b="0" i="0" sz="1050" u="none" cap="none" strike="noStrike">
              <a:solidFill>
                <a:schemeClr val="dk1"/>
              </a:solidFill>
              <a:latin typeface="Calibri"/>
              <a:ea typeface="Calibri"/>
              <a:cs typeface="Calibri"/>
              <a:sym typeface="Calibri"/>
            </a:endParaRPr>
          </a:p>
        </p:txBody>
      </p:sp>
      <p:sp>
        <p:nvSpPr>
          <p:cNvPr id="311" name="Google Shape;311;p10"/>
          <p:cNvSpPr/>
          <p:nvPr/>
        </p:nvSpPr>
        <p:spPr>
          <a:xfrm>
            <a:off x="548640" y="3401568"/>
            <a:ext cx="5212080" cy="621792"/>
          </a:xfrm>
          <a:prstGeom prst="roundRect">
            <a:avLst>
              <a:gd fmla="val 11765"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p:nvPr/>
        </p:nvSpPr>
        <p:spPr>
          <a:xfrm>
            <a:off x="713232" y="3538728"/>
            <a:ext cx="384048" cy="384048"/>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10"/>
          <p:cNvPicPr preferRelativeResize="0"/>
          <p:nvPr/>
        </p:nvPicPr>
        <p:blipFill rotWithShape="1">
          <a:blip r:embed="rId5">
            <a:alphaModFix/>
          </a:blip>
          <a:srcRect b="0" l="0" r="0" t="0"/>
          <a:stretch/>
        </p:blipFill>
        <p:spPr>
          <a:xfrm>
            <a:off x="822960" y="3648456"/>
            <a:ext cx="182880" cy="182880"/>
          </a:xfrm>
          <a:prstGeom prst="rect">
            <a:avLst/>
          </a:prstGeom>
          <a:noFill/>
          <a:ln>
            <a:noFill/>
          </a:ln>
        </p:spPr>
      </p:pic>
      <p:sp>
        <p:nvSpPr>
          <p:cNvPr id="314" name="Google Shape;314;p10"/>
          <p:cNvSpPr/>
          <p:nvPr/>
        </p:nvSpPr>
        <p:spPr>
          <a:xfrm>
            <a:off x="1234440" y="3474720"/>
            <a:ext cx="4434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ChromaDB · SQLite</a:t>
            </a:r>
            <a:endParaRPr b="0" i="0" sz="1250" u="none" cap="none" strike="noStrike">
              <a:solidFill>
                <a:schemeClr val="dk1"/>
              </a:solidFill>
              <a:latin typeface="Calibri"/>
              <a:ea typeface="Calibri"/>
              <a:cs typeface="Calibri"/>
              <a:sym typeface="Calibri"/>
            </a:endParaRPr>
          </a:p>
        </p:txBody>
      </p:sp>
      <p:sp>
        <p:nvSpPr>
          <p:cNvPr id="315" name="Google Shape;315;p10"/>
          <p:cNvSpPr/>
          <p:nvPr/>
        </p:nvSpPr>
        <p:spPr>
          <a:xfrm>
            <a:off x="1234440" y="3749040"/>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Vector memory + evaluation data</a:t>
            </a:r>
            <a:endParaRPr b="0" i="0" sz="1050" u="none" cap="none" strike="noStrike">
              <a:solidFill>
                <a:schemeClr val="dk1"/>
              </a:solidFill>
              <a:latin typeface="Calibri"/>
              <a:ea typeface="Calibri"/>
              <a:cs typeface="Calibri"/>
              <a:sym typeface="Calibri"/>
            </a:endParaRPr>
          </a:p>
        </p:txBody>
      </p:sp>
      <p:sp>
        <p:nvSpPr>
          <p:cNvPr id="316" name="Google Shape;316;p10"/>
          <p:cNvSpPr/>
          <p:nvPr/>
        </p:nvSpPr>
        <p:spPr>
          <a:xfrm>
            <a:off x="548640" y="4133088"/>
            <a:ext cx="5212080" cy="621792"/>
          </a:xfrm>
          <a:prstGeom prst="roundRect">
            <a:avLst>
              <a:gd fmla="val 11765"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713232" y="4270248"/>
            <a:ext cx="384048" cy="384048"/>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8" name="Google Shape;318;p10"/>
          <p:cNvPicPr preferRelativeResize="0"/>
          <p:nvPr/>
        </p:nvPicPr>
        <p:blipFill rotWithShape="1">
          <a:blip r:embed="rId6">
            <a:alphaModFix/>
          </a:blip>
          <a:srcRect b="0" l="0" r="0" t="0"/>
          <a:stretch/>
        </p:blipFill>
        <p:spPr>
          <a:xfrm>
            <a:off x="822960" y="4379976"/>
            <a:ext cx="182880" cy="182880"/>
          </a:xfrm>
          <a:prstGeom prst="rect">
            <a:avLst/>
          </a:prstGeom>
          <a:noFill/>
          <a:ln>
            <a:noFill/>
          </a:ln>
        </p:spPr>
      </p:pic>
      <p:sp>
        <p:nvSpPr>
          <p:cNvPr id="319" name="Google Shape;319;p10"/>
          <p:cNvSpPr/>
          <p:nvPr/>
        </p:nvSpPr>
        <p:spPr>
          <a:xfrm>
            <a:off x="1234440" y="4206240"/>
            <a:ext cx="4434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FastAPI · WebSocket</a:t>
            </a:r>
            <a:endParaRPr b="0" i="0" sz="1250" u="none" cap="none" strike="noStrike">
              <a:solidFill>
                <a:schemeClr val="dk1"/>
              </a:solidFill>
              <a:latin typeface="Calibri"/>
              <a:ea typeface="Calibri"/>
              <a:cs typeface="Calibri"/>
              <a:sym typeface="Calibri"/>
            </a:endParaRPr>
          </a:p>
        </p:txBody>
      </p:sp>
      <p:sp>
        <p:nvSpPr>
          <p:cNvPr id="320" name="Google Shape;320;p10"/>
          <p:cNvSpPr/>
          <p:nvPr/>
        </p:nvSpPr>
        <p:spPr>
          <a:xfrm>
            <a:off x="1234440" y="4480560"/>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Single-page HUD front end</a:t>
            </a:r>
            <a:endParaRPr b="0" i="0" sz="1050" u="none" cap="none" strike="noStrike">
              <a:solidFill>
                <a:schemeClr val="dk1"/>
              </a:solidFill>
              <a:latin typeface="Calibri"/>
              <a:ea typeface="Calibri"/>
              <a:cs typeface="Calibri"/>
              <a:sym typeface="Calibri"/>
            </a:endParaRPr>
          </a:p>
        </p:txBody>
      </p:sp>
      <p:sp>
        <p:nvSpPr>
          <p:cNvPr id="321" name="Google Shape;321;p10"/>
          <p:cNvSpPr/>
          <p:nvPr/>
        </p:nvSpPr>
        <p:spPr>
          <a:xfrm>
            <a:off x="548640" y="4864608"/>
            <a:ext cx="5212080" cy="621792"/>
          </a:xfrm>
          <a:prstGeom prst="roundRect">
            <a:avLst>
              <a:gd fmla="val 11765"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713232" y="5001768"/>
            <a:ext cx="384048" cy="384048"/>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3" name="Google Shape;323;p10"/>
          <p:cNvPicPr preferRelativeResize="0"/>
          <p:nvPr/>
        </p:nvPicPr>
        <p:blipFill rotWithShape="1">
          <a:blip r:embed="rId7">
            <a:alphaModFix/>
          </a:blip>
          <a:srcRect b="0" l="0" r="0" t="0"/>
          <a:stretch/>
        </p:blipFill>
        <p:spPr>
          <a:xfrm>
            <a:off x="822960" y="5111496"/>
            <a:ext cx="182880" cy="182880"/>
          </a:xfrm>
          <a:prstGeom prst="rect">
            <a:avLst/>
          </a:prstGeom>
          <a:noFill/>
          <a:ln>
            <a:noFill/>
          </a:ln>
        </p:spPr>
      </p:pic>
      <p:sp>
        <p:nvSpPr>
          <p:cNvPr id="324" name="Google Shape;324;p10"/>
          <p:cNvSpPr/>
          <p:nvPr/>
        </p:nvSpPr>
        <p:spPr>
          <a:xfrm>
            <a:off x="1234440" y="4937760"/>
            <a:ext cx="4434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Whisper · openWakeWord · ElevenLabs</a:t>
            </a:r>
            <a:endParaRPr b="0" i="0" sz="1250" u="none" cap="none" strike="noStrike">
              <a:solidFill>
                <a:schemeClr val="dk1"/>
              </a:solidFill>
              <a:latin typeface="Calibri"/>
              <a:ea typeface="Calibri"/>
              <a:cs typeface="Calibri"/>
              <a:sym typeface="Calibri"/>
            </a:endParaRPr>
          </a:p>
        </p:txBody>
      </p:sp>
      <p:sp>
        <p:nvSpPr>
          <p:cNvPr id="325" name="Google Shape;325;p10"/>
          <p:cNvSpPr/>
          <p:nvPr/>
        </p:nvSpPr>
        <p:spPr>
          <a:xfrm>
            <a:off x="1234440" y="5212080"/>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Hybrid voice pipeline</a:t>
            </a:r>
            <a:endParaRPr b="0" i="0" sz="1050" u="none" cap="none" strike="noStrike">
              <a:solidFill>
                <a:schemeClr val="dk1"/>
              </a:solidFill>
              <a:latin typeface="Calibri"/>
              <a:ea typeface="Calibri"/>
              <a:cs typeface="Calibri"/>
              <a:sym typeface="Calibri"/>
            </a:endParaRPr>
          </a:p>
        </p:txBody>
      </p:sp>
      <p:sp>
        <p:nvSpPr>
          <p:cNvPr id="326" name="Google Shape;326;p10"/>
          <p:cNvSpPr/>
          <p:nvPr/>
        </p:nvSpPr>
        <p:spPr>
          <a:xfrm>
            <a:off x="548640" y="5596128"/>
            <a:ext cx="5212080" cy="621792"/>
          </a:xfrm>
          <a:prstGeom prst="roundRect">
            <a:avLst>
              <a:gd fmla="val 11765"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713232" y="5733288"/>
            <a:ext cx="384048" cy="384048"/>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8" name="Google Shape;328;p10"/>
          <p:cNvPicPr preferRelativeResize="0"/>
          <p:nvPr/>
        </p:nvPicPr>
        <p:blipFill rotWithShape="1">
          <a:blip r:embed="rId8">
            <a:alphaModFix/>
          </a:blip>
          <a:srcRect b="0" l="0" r="0" t="0"/>
          <a:stretch/>
        </p:blipFill>
        <p:spPr>
          <a:xfrm>
            <a:off x="822960" y="5843016"/>
            <a:ext cx="182880" cy="182880"/>
          </a:xfrm>
          <a:prstGeom prst="rect">
            <a:avLst/>
          </a:prstGeom>
          <a:noFill/>
          <a:ln>
            <a:noFill/>
          </a:ln>
        </p:spPr>
      </p:pic>
      <p:sp>
        <p:nvSpPr>
          <p:cNvPr id="329" name="Google Shape;329;p10"/>
          <p:cNvSpPr/>
          <p:nvPr/>
        </p:nvSpPr>
        <p:spPr>
          <a:xfrm>
            <a:off x="1234440" y="5669280"/>
            <a:ext cx="4434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Docker · Fly.io (London)</a:t>
            </a:r>
            <a:endParaRPr b="0" i="0" sz="1250" u="none" cap="none" strike="noStrike">
              <a:solidFill>
                <a:schemeClr val="dk1"/>
              </a:solidFill>
              <a:latin typeface="Calibri"/>
              <a:ea typeface="Calibri"/>
              <a:cs typeface="Calibri"/>
              <a:sym typeface="Calibri"/>
            </a:endParaRPr>
          </a:p>
        </p:txBody>
      </p:sp>
      <p:sp>
        <p:nvSpPr>
          <p:cNvPr id="330" name="Google Shape;330;p10"/>
          <p:cNvSpPr/>
          <p:nvPr/>
        </p:nvSpPr>
        <p:spPr>
          <a:xfrm>
            <a:off x="1234440" y="5943600"/>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Containerised cloud deployment</a:t>
            </a:r>
            <a:endParaRPr b="0" i="0" sz="1050" u="none" cap="none" strike="noStrike">
              <a:solidFill>
                <a:schemeClr val="dk1"/>
              </a:solidFill>
              <a:latin typeface="Calibri"/>
              <a:ea typeface="Calibri"/>
              <a:cs typeface="Calibri"/>
              <a:sym typeface="Calibri"/>
            </a:endParaRPr>
          </a:p>
        </p:txBody>
      </p:sp>
      <p:sp>
        <p:nvSpPr>
          <p:cNvPr id="331" name="Google Shape;331;p10"/>
          <p:cNvSpPr/>
          <p:nvPr/>
        </p:nvSpPr>
        <p:spPr>
          <a:xfrm>
            <a:off x="6126480" y="1517904"/>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1300"/>
              <a:buFont typeface="Trebuchet MS"/>
              <a:buNone/>
            </a:pPr>
            <a:r>
              <a:rPr b="1" i="0" lang="en-US" sz="1300" u="none" cap="none" strike="noStrike">
                <a:solidFill>
                  <a:srgbClr val="FBBF24"/>
                </a:solidFill>
                <a:latin typeface="Trebuchet MS"/>
                <a:ea typeface="Trebuchet MS"/>
                <a:cs typeface="Trebuchet MS"/>
                <a:sym typeface="Trebuchet MS"/>
              </a:rPr>
              <a:t>THE PARTS THAT FOUGHT BACK</a:t>
            </a:r>
            <a:endParaRPr b="0" i="0" sz="1300" u="none" cap="none" strike="noStrike">
              <a:solidFill>
                <a:schemeClr val="dk1"/>
              </a:solidFill>
              <a:latin typeface="Calibri"/>
              <a:ea typeface="Calibri"/>
              <a:cs typeface="Calibri"/>
              <a:sym typeface="Calibri"/>
            </a:endParaRPr>
          </a:p>
        </p:txBody>
      </p:sp>
      <p:sp>
        <p:nvSpPr>
          <p:cNvPr id="332" name="Google Shape;332;p10"/>
          <p:cNvSpPr/>
          <p:nvPr/>
        </p:nvSpPr>
        <p:spPr>
          <a:xfrm>
            <a:off x="6126480" y="1938528"/>
            <a:ext cx="5513832" cy="768096"/>
          </a:xfrm>
          <a:prstGeom prst="roundRect">
            <a:avLst>
              <a:gd fmla="val 9524"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0"/>
          <p:cNvSpPr/>
          <p:nvPr/>
        </p:nvSpPr>
        <p:spPr>
          <a:xfrm>
            <a:off x="6126480" y="1938528"/>
            <a:ext cx="73152" cy="768096"/>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6355080" y="2029968"/>
            <a:ext cx="5120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Trebuchet MS"/>
              <a:buNone/>
            </a:pPr>
            <a:r>
              <a:rPr b="1" i="0" lang="en-US" sz="1300" u="none" cap="none" strike="noStrike">
                <a:solidFill>
                  <a:srgbClr val="E6EDF6"/>
                </a:solidFill>
                <a:latin typeface="Trebuchet MS"/>
                <a:ea typeface="Trebuchet MS"/>
                <a:cs typeface="Trebuchet MS"/>
                <a:sym typeface="Trebuchet MS"/>
              </a:rPr>
              <a:t>Clean JSON from small models</a:t>
            </a:r>
            <a:endParaRPr b="0" i="0" sz="1300" u="none" cap="none" strike="noStrike">
              <a:solidFill>
                <a:schemeClr val="dk1"/>
              </a:solidFill>
              <a:latin typeface="Calibri"/>
              <a:ea typeface="Calibri"/>
              <a:cs typeface="Calibri"/>
              <a:sym typeface="Calibri"/>
            </a:endParaRPr>
          </a:p>
        </p:txBody>
      </p:sp>
      <p:sp>
        <p:nvSpPr>
          <p:cNvPr id="335" name="Google Shape;335;p10"/>
          <p:cNvSpPr/>
          <p:nvPr/>
        </p:nvSpPr>
        <p:spPr>
          <a:xfrm>
            <a:off x="6355080" y="2322576"/>
            <a:ext cx="5166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They wrap it in markdown or add waffle, so there are a few layers of cleanup and repair</a:t>
            </a:r>
            <a:endParaRPr b="0" i="0" sz="1050" u="none" cap="none" strike="noStrike">
              <a:solidFill>
                <a:schemeClr val="dk1"/>
              </a:solidFill>
              <a:latin typeface="Calibri"/>
              <a:ea typeface="Calibri"/>
              <a:cs typeface="Calibri"/>
              <a:sym typeface="Calibri"/>
            </a:endParaRPr>
          </a:p>
        </p:txBody>
      </p:sp>
      <p:sp>
        <p:nvSpPr>
          <p:cNvPr id="336" name="Google Shape;336;p10"/>
          <p:cNvSpPr/>
          <p:nvPr/>
        </p:nvSpPr>
        <p:spPr>
          <a:xfrm>
            <a:off x="6126480" y="2816352"/>
            <a:ext cx="5513832" cy="768096"/>
          </a:xfrm>
          <a:prstGeom prst="roundRect">
            <a:avLst>
              <a:gd fmla="val 9524"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0"/>
          <p:cNvSpPr/>
          <p:nvPr/>
        </p:nvSpPr>
        <p:spPr>
          <a:xfrm>
            <a:off x="6126480" y="2816352"/>
            <a:ext cx="73152" cy="768096"/>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
          <p:cNvSpPr/>
          <p:nvPr/>
        </p:nvSpPr>
        <p:spPr>
          <a:xfrm>
            <a:off x="6355080" y="2907792"/>
            <a:ext cx="5120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Trebuchet MS"/>
              <a:buNone/>
            </a:pPr>
            <a:r>
              <a:rPr b="1" i="0" lang="en-US" sz="1300" u="none" cap="none" strike="noStrike">
                <a:solidFill>
                  <a:srgbClr val="E6EDF6"/>
                </a:solidFill>
                <a:latin typeface="Trebuchet MS"/>
                <a:ea typeface="Trebuchet MS"/>
                <a:cs typeface="Trebuchet MS"/>
                <a:sym typeface="Trebuchet MS"/>
              </a:rPr>
              <a:t>Async tool execution</a:t>
            </a:r>
            <a:endParaRPr b="0" i="0" sz="1300" u="none" cap="none" strike="noStrike">
              <a:solidFill>
                <a:schemeClr val="dk1"/>
              </a:solidFill>
              <a:latin typeface="Calibri"/>
              <a:ea typeface="Calibri"/>
              <a:cs typeface="Calibri"/>
              <a:sym typeface="Calibri"/>
            </a:endParaRPr>
          </a:p>
        </p:txBody>
      </p:sp>
      <p:sp>
        <p:nvSpPr>
          <p:cNvPr id="339" name="Google Shape;339;p10"/>
          <p:cNvSpPr/>
          <p:nvPr/>
        </p:nvSpPr>
        <p:spPr>
          <a:xfrm>
            <a:off x="6355080" y="3200400"/>
            <a:ext cx="5166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asyncio.gather for independent steps; sync APIs wrapped in executors</a:t>
            </a:r>
            <a:endParaRPr b="0" i="0" sz="1050" u="none" cap="none" strike="noStrike">
              <a:solidFill>
                <a:schemeClr val="dk1"/>
              </a:solidFill>
              <a:latin typeface="Calibri"/>
              <a:ea typeface="Calibri"/>
              <a:cs typeface="Calibri"/>
              <a:sym typeface="Calibri"/>
            </a:endParaRPr>
          </a:p>
        </p:txBody>
      </p:sp>
      <p:sp>
        <p:nvSpPr>
          <p:cNvPr id="340" name="Google Shape;340;p10"/>
          <p:cNvSpPr/>
          <p:nvPr/>
        </p:nvSpPr>
        <p:spPr>
          <a:xfrm>
            <a:off x="6126480" y="3694176"/>
            <a:ext cx="5513832" cy="768096"/>
          </a:xfrm>
          <a:prstGeom prst="roundRect">
            <a:avLst>
              <a:gd fmla="val 9524"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
          <p:cNvSpPr/>
          <p:nvPr/>
        </p:nvSpPr>
        <p:spPr>
          <a:xfrm>
            <a:off x="6126480" y="3694176"/>
            <a:ext cx="73152" cy="768096"/>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0"/>
          <p:cNvSpPr/>
          <p:nvPr/>
        </p:nvSpPr>
        <p:spPr>
          <a:xfrm>
            <a:off x="6355080" y="3785616"/>
            <a:ext cx="5120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Trebuchet MS"/>
              <a:buNone/>
            </a:pPr>
            <a:r>
              <a:rPr b="1" i="0" lang="en-US" sz="1300" u="none" cap="none" strike="noStrike">
                <a:solidFill>
                  <a:srgbClr val="E6EDF6"/>
                </a:solidFill>
                <a:latin typeface="Trebuchet MS"/>
                <a:ea typeface="Trebuchet MS"/>
                <a:cs typeface="Trebuchet MS"/>
                <a:sym typeface="Trebuchet MS"/>
              </a:rPr>
              <a:t>OAuth in the cloud</a:t>
            </a:r>
            <a:endParaRPr b="0" i="0" sz="1300" u="none" cap="none" strike="noStrike">
              <a:solidFill>
                <a:schemeClr val="dk1"/>
              </a:solidFill>
              <a:latin typeface="Calibri"/>
              <a:ea typeface="Calibri"/>
              <a:cs typeface="Calibri"/>
              <a:sym typeface="Calibri"/>
            </a:endParaRPr>
          </a:p>
        </p:txBody>
      </p:sp>
      <p:sp>
        <p:nvSpPr>
          <p:cNvPr id="343" name="Google Shape;343;p10"/>
          <p:cNvSpPr/>
          <p:nvPr/>
        </p:nvSpPr>
        <p:spPr>
          <a:xfrm>
            <a:off x="6355080" y="4078224"/>
            <a:ext cx="5166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Authorise once locally, then inject the refresh token as a Fly secret</a:t>
            </a:r>
            <a:endParaRPr b="0" i="0" sz="1050" u="none" cap="none" strike="noStrike">
              <a:solidFill>
                <a:schemeClr val="dk1"/>
              </a:solidFill>
              <a:latin typeface="Calibri"/>
              <a:ea typeface="Calibri"/>
              <a:cs typeface="Calibri"/>
              <a:sym typeface="Calibri"/>
            </a:endParaRPr>
          </a:p>
        </p:txBody>
      </p:sp>
      <p:sp>
        <p:nvSpPr>
          <p:cNvPr id="344" name="Google Shape;344;p10"/>
          <p:cNvSpPr/>
          <p:nvPr/>
        </p:nvSpPr>
        <p:spPr>
          <a:xfrm>
            <a:off x="6126480" y="4572000"/>
            <a:ext cx="5513832" cy="768096"/>
          </a:xfrm>
          <a:prstGeom prst="roundRect">
            <a:avLst>
              <a:gd fmla="val 9524"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6126480" y="4572000"/>
            <a:ext cx="73152" cy="768096"/>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p:nvPr/>
        </p:nvSpPr>
        <p:spPr>
          <a:xfrm>
            <a:off x="6355080" y="4663440"/>
            <a:ext cx="5120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Trebuchet MS"/>
              <a:buNone/>
            </a:pPr>
            <a:r>
              <a:rPr b="1" i="0" lang="en-US" sz="1300" u="none" cap="none" strike="noStrike">
                <a:solidFill>
                  <a:srgbClr val="E6EDF6"/>
                </a:solidFill>
                <a:latin typeface="Trebuchet MS"/>
                <a:ea typeface="Trebuchet MS"/>
                <a:cs typeface="Trebuchet MS"/>
                <a:sym typeface="Trebuchet MS"/>
              </a:rPr>
              <a:t>Replanning that actually changes</a:t>
            </a:r>
            <a:endParaRPr b="0" i="0" sz="1300" u="none" cap="none" strike="noStrike">
              <a:solidFill>
                <a:schemeClr val="dk1"/>
              </a:solidFill>
              <a:latin typeface="Calibri"/>
              <a:ea typeface="Calibri"/>
              <a:cs typeface="Calibri"/>
              <a:sym typeface="Calibri"/>
            </a:endParaRPr>
          </a:p>
        </p:txBody>
      </p:sp>
      <p:sp>
        <p:nvSpPr>
          <p:cNvPr id="347" name="Google Shape;347;p10"/>
          <p:cNvSpPr/>
          <p:nvPr/>
        </p:nvSpPr>
        <p:spPr>
          <a:xfrm>
            <a:off x="6355080" y="4956048"/>
            <a:ext cx="5166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Feed the Critic's specific complaints into the retry, not just 'try again'</a:t>
            </a:r>
            <a:endParaRPr b="0" i="0" sz="1050" u="none" cap="none" strike="noStrike">
              <a:solidFill>
                <a:schemeClr val="dk1"/>
              </a:solidFill>
              <a:latin typeface="Calibri"/>
              <a:ea typeface="Calibri"/>
              <a:cs typeface="Calibri"/>
              <a:sym typeface="Calibri"/>
            </a:endParaRPr>
          </a:p>
        </p:txBody>
      </p:sp>
      <p:sp>
        <p:nvSpPr>
          <p:cNvPr id="348" name="Google Shape;348;p10"/>
          <p:cNvSpPr/>
          <p:nvPr/>
        </p:nvSpPr>
        <p:spPr>
          <a:xfrm>
            <a:off x="6126480" y="5449824"/>
            <a:ext cx="5513832" cy="768096"/>
          </a:xfrm>
          <a:prstGeom prst="roundRect">
            <a:avLst>
              <a:gd fmla="val 9524"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a:off x="6126480" y="5449824"/>
            <a:ext cx="73152" cy="768096"/>
          </a:xfrm>
          <a:prstGeom prst="rect">
            <a:avLst/>
          </a:prstGeom>
          <a:solidFill>
            <a:srgbClr val="FBB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0"/>
          <p:cNvSpPr/>
          <p:nvPr/>
        </p:nvSpPr>
        <p:spPr>
          <a:xfrm>
            <a:off x="6355080" y="5541264"/>
            <a:ext cx="5120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300"/>
              <a:buFont typeface="Trebuchet MS"/>
              <a:buNone/>
            </a:pPr>
            <a:r>
              <a:rPr b="1" i="0" lang="en-US" sz="1300" u="none" cap="none" strike="noStrike">
                <a:solidFill>
                  <a:srgbClr val="E6EDF6"/>
                </a:solidFill>
                <a:latin typeface="Trebuchet MS"/>
                <a:ea typeface="Trebuchet MS"/>
                <a:cs typeface="Trebuchet MS"/>
                <a:sym typeface="Trebuchet MS"/>
              </a:rPr>
              <a:t>Voice latency</a:t>
            </a:r>
            <a:endParaRPr b="0" i="0" sz="1300" u="none" cap="none" strike="noStrike">
              <a:solidFill>
                <a:schemeClr val="dk1"/>
              </a:solidFill>
              <a:latin typeface="Calibri"/>
              <a:ea typeface="Calibri"/>
              <a:cs typeface="Calibri"/>
              <a:sym typeface="Calibri"/>
            </a:endParaRPr>
          </a:p>
        </p:txBody>
      </p:sp>
      <p:sp>
        <p:nvSpPr>
          <p:cNvPr id="351" name="Google Shape;351;p10"/>
          <p:cNvSpPr/>
          <p:nvPr/>
        </p:nvSpPr>
        <p:spPr>
          <a:xfrm>
            <a:off x="6355080" y="5833872"/>
            <a:ext cx="5166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8-stage path; STT dropped to small.en int8; Flash TTS for &lt;100 ms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356" name="Shape 356"/>
        <p:cNvGrpSpPr/>
        <p:nvPr/>
      </p:nvGrpSpPr>
      <p:grpSpPr>
        <a:xfrm>
          <a:off x="0" y="0"/>
          <a:ext cx="0" cy="0"/>
          <a:chOff x="0" y="0"/>
          <a:chExt cx="0" cy="0"/>
        </a:xfrm>
      </p:grpSpPr>
      <p:sp>
        <p:nvSpPr>
          <p:cNvPr id="357" name="Google Shape;357;p11"/>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05</a:t>
            </a:r>
            <a:endParaRPr b="0" i="0" sz="3000" u="none" cap="none" strike="noStrike">
              <a:solidFill>
                <a:schemeClr val="dk1"/>
              </a:solidFill>
              <a:latin typeface="Calibri"/>
              <a:ea typeface="Calibri"/>
              <a:cs typeface="Calibri"/>
              <a:sym typeface="Calibri"/>
            </a:endParaRPr>
          </a:p>
        </p:txBody>
      </p:sp>
      <p:sp>
        <p:nvSpPr>
          <p:cNvPr id="358" name="Google Shape;358;p11"/>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5D · TESTING &amp; RESULTS</a:t>
            </a:r>
            <a:endParaRPr b="0" i="0" sz="1200" u="none" cap="none" strike="noStrike">
              <a:solidFill>
                <a:schemeClr val="dk1"/>
              </a:solidFill>
              <a:latin typeface="Calibri"/>
              <a:ea typeface="Calibri"/>
              <a:cs typeface="Calibri"/>
              <a:sym typeface="Calibri"/>
            </a:endParaRPr>
          </a:p>
        </p:txBody>
      </p:sp>
      <p:sp>
        <p:nvSpPr>
          <p:cNvPr id="359" name="Google Shape;359;p11"/>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What the evaluation showed</a:t>
            </a:r>
            <a:endParaRPr b="0" i="0" sz="3000" u="none" cap="none" strike="noStrike">
              <a:solidFill>
                <a:schemeClr val="dk1"/>
              </a:solidFill>
              <a:latin typeface="Calibri"/>
              <a:ea typeface="Calibri"/>
              <a:cs typeface="Calibri"/>
              <a:sym typeface="Calibri"/>
            </a:endParaRPr>
          </a:p>
        </p:txBody>
      </p:sp>
      <p:sp>
        <p:nvSpPr>
          <p:cNvPr id="360" name="Google Shape;360;p11"/>
          <p:cNvSpPr/>
          <p:nvPr/>
        </p:nvSpPr>
        <p:spPr>
          <a:xfrm>
            <a:off x="548640" y="1517904"/>
            <a:ext cx="2212848" cy="1371600"/>
          </a:xfrm>
          <a:prstGeom prst="roundRect">
            <a:avLst>
              <a:gd fmla="val 5333"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640080" y="1627632"/>
            <a:ext cx="202996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3800"/>
              <a:buFont typeface="Trebuchet MS"/>
              <a:buNone/>
            </a:pPr>
            <a:r>
              <a:rPr b="1" i="0" lang="en-US" sz="3800" u="none" cap="none" strike="noStrike">
                <a:solidFill>
                  <a:srgbClr val="22D3EE"/>
                </a:solidFill>
                <a:latin typeface="Trebuchet MS"/>
                <a:ea typeface="Trebuchet MS"/>
                <a:cs typeface="Trebuchet MS"/>
                <a:sym typeface="Trebuchet MS"/>
              </a:rPr>
              <a:t>0.83</a:t>
            </a:r>
            <a:endParaRPr b="0" i="0" sz="3800" u="none" cap="none" strike="noStrike">
              <a:solidFill>
                <a:schemeClr val="dk1"/>
              </a:solidFill>
              <a:latin typeface="Calibri"/>
              <a:ea typeface="Calibri"/>
              <a:cs typeface="Calibri"/>
              <a:sym typeface="Calibri"/>
            </a:endParaRPr>
          </a:p>
        </p:txBody>
      </p:sp>
      <p:sp>
        <p:nvSpPr>
          <p:cNvPr id="362" name="Google Shape;362;p11"/>
          <p:cNvSpPr/>
          <p:nvPr/>
        </p:nvSpPr>
        <p:spPr>
          <a:xfrm>
            <a:off x="658368" y="2340864"/>
            <a:ext cx="19933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mean overall score</a:t>
            </a:r>
            <a:endParaRPr b="0" i="0" sz="1100" u="none" cap="none" strike="noStrike">
              <a:solidFill>
                <a:schemeClr val="dk1"/>
              </a:solidFill>
              <a:latin typeface="Calibri"/>
              <a:ea typeface="Calibri"/>
              <a:cs typeface="Calibri"/>
              <a:sym typeface="Calibri"/>
            </a:endParaRPr>
          </a:p>
        </p:txBody>
      </p:sp>
      <p:sp>
        <p:nvSpPr>
          <p:cNvPr id="363" name="Google Shape;363;p11"/>
          <p:cNvSpPr/>
          <p:nvPr/>
        </p:nvSpPr>
        <p:spPr>
          <a:xfrm>
            <a:off x="2889504" y="1517904"/>
            <a:ext cx="2212848" cy="1371600"/>
          </a:xfrm>
          <a:prstGeom prst="roundRect">
            <a:avLst>
              <a:gd fmla="val 5333"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2980944" y="1627632"/>
            <a:ext cx="202996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4D399"/>
              </a:buClr>
              <a:buSzPts val="3800"/>
              <a:buFont typeface="Trebuchet MS"/>
              <a:buNone/>
            </a:pPr>
            <a:r>
              <a:rPr b="1" i="0" lang="en-US" sz="3800" u="none" cap="none" strike="noStrike">
                <a:solidFill>
                  <a:srgbClr val="34D399"/>
                </a:solidFill>
                <a:latin typeface="Trebuchet MS"/>
                <a:ea typeface="Trebuchet MS"/>
                <a:cs typeface="Trebuchet MS"/>
                <a:sym typeface="Trebuchet MS"/>
              </a:rPr>
              <a:t>100%</a:t>
            </a:r>
            <a:endParaRPr b="0" i="0" sz="3800" u="none" cap="none" strike="noStrike">
              <a:solidFill>
                <a:schemeClr val="dk1"/>
              </a:solidFill>
              <a:latin typeface="Calibri"/>
              <a:ea typeface="Calibri"/>
              <a:cs typeface="Calibri"/>
              <a:sym typeface="Calibri"/>
            </a:endParaRPr>
          </a:p>
        </p:txBody>
      </p:sp>
      <p:sp>
        <p:nvSpPr>
          <p:cNvPr id="365" name="Google Shape;365;p11"/>
          <p:cNvSpPr/>
          <p:nvPr/>
        </p:nvSpPr>
        <p:spPr>
          <a:xfrm>
            <a:off x="2999232" y="2340864"/>
            <a:ext cx="19933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of 16 runs passed ≥ 0.7</a:t>
            </a:r>
            <a:endParaRPr b="0" i="0" sz="1100" u="none" cap="none" strike="noStrike">
              <a:solidFill>
                <a:schemeClr val="dk1"/>
              </a:solidFill>
              <a:latin typeface="Calibri"/>
              <a:ea typeface="Calibri"/>
              <a:cs typeface="Calibri"/>
              <a:sym typeface="Calibri"/>
            </a:endParaRPr>
          </a:p>
        </p:txBody>
      </p:sp>
      <p:sp>
        <p:nvSpPr>
          <p:cNvPr id="366" name="Google Shape;366;p11"/>
          <p:cNvSpPr/>
          <p:nvPr/>
        </p:nvSpPr>
        <p:spPr>
          <a:xfrm>
            <a:off x="5230368" y="1517904"/>
            <a:ext cx="2212848" cy="1371600"/>
          </a:xfrm>
          <a:prstGeom prst="roundRect">
            <a:avLst>
              <a:gd fmla="val 5333"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5321808" y="1627632"/>
            <a:ext cx="202996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3800"/>
              <a:buFont typeface="Trebuchet MS"/>
              <a:buNone/>
            </a:pPr>
            <a:r>
              <a:rPr b="1" i="0" lang="en-US" sz="3800" u="none" cap="none" strike="noStrike">
                <a:solidFill>
                  <a:srgbClr val="FBBF24"/>
                </a:solidFill>
                <a:latin typeface="Trebuchet MS"/>
                <a:ea typeface="Trebuchet MS"/>
                <a:cs typeface="Trebuchet MS"/>
                <a:sym typeface="Trebuchet MS"/>
              </a:rPr>
              <a:t>1 in 3</a:t>
            </a:r>
            <a:endParaRPr b="0" i="0" sz="3800" u="none" cap="none" strike="noStrike">
              <a:solidFill>
                <a:schemeClr val="dk1"/>
              </a:solidFill>
              <a:latin typeface="Calibri"/>
              <a:ea typeface="Calibri"/>
              <a:cs typeface="Calibri"/>
              <a:sym typeface="Calibri"/>
            </a:endParaRPr>
          </a:p>
        </p:txBody>
      </p:sp>
      <p:sp>
        <p:nvSpPr>
          <p:cNvPr id="368" name="Google Shape;368;p11"/>
          <p:cNvSpPr/>
          <p:nvPr/>
        </p:nvSpPr>
        <p:spPr>
          <a:xfrm>
            <a:off x="5340096" y="2340864"/>
            <a:ext cx="19933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tasks needed a replan</a:t>
            </a:r>
            <a:endParaRPr b="0" i="0" sz="1100" u="none" cap="none" strike="noStrike">
              <a:solidFill>
                <a:schemeClr val="dk1"/>
              </a:solidFill>
              <a:latin typeface="Calibri"/>
              <a:ea typeface="Calibri"/>
              <a:cs typeface="Calibri"/>
              <a:sym typeface="Calibri"/>
            </a:endParaRPr>
          </a:p>
        </p:txBody>
      </p:sp>
      <p:sp>
        <p:nvSpPr>
          <p:cNvPr id="369" name="Google Shape;369;p11"/>
          <p:cNvSpPr/>
          <p:nvPr/>
        </p:nvSpPr>
        <p:spPr>
          <a:xfrm>
            <a:off x="7571232" y="1517904"/>
            <a:ext cx="2212848" cy="1371600"/>
          </a:xfrm>
          <a:prstGeom prst="roundRect">
            <a:avLst>
              <a:gd fmla="val 5333"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7662672" y="1627632"/>
            <a:ext cx="202996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A5FA"/>
              </a:buClr>
              <a:buSzPts val="3800"/>
              <a:buFont typeface="Trebuchet MS"/>
              <a:buNone/>
            </a:pPr>
            <a:r>
              <a:rPr b="1" i="0" lang="en-US" sz="3800" u="none" cap="none" strike="noStrike">
                <a:solidFill>
                  <a:srgbClr val="60A5FA"/>
                </a:solidFill>
                <a:latin typeface="Trebuchet MS"/>
                <a:ea typeface="Trebuchet MS"/>
                <a:cs typeface="Trebuchet MS"/>
                <a:sym typeface="Trebuchet MS"/>
              </a:rPr>
              <a:t>9</a:t>
            </a:r>
            <a:endParaRPr b="0" i="0" sz="3800" u="none" cap="none" strike="noStrike">
              <a:solidFill>
                <a:schemeClr val="dk1"/>
              </a:solidFill>
              <a:latin typeface="Calibri"/>
              <a:ea typeface="Calibri"/>
              <a:cs typeface="Calibri"/>
              <a:sym typeface="Calibri"/>
            </a:endParaRPr>
          </a:p>
        </p:txBody>
      </p:sp>
      <p:sp>
        <p:nvSpPr>
          <p:cNvPr id="371" name="Google Shape;371;p11"/>
          <p:cNvSpPr/>
          <p:nvPr/>
        </p:nvSpPr>
        <p:spPr>
          <a:xfrm>
            <a:off x="7680960" y="2340864"/>
            <a:ext cx="19933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tasks · 7 intents · 3 tiers</a:t>
            </a:r>
            <a:endParaRPr b="0" i="0" sz="1100" u="none" cap="none" strike="noStrike">
              <a:solidFill>
                <a:schemeClr val="dk1"/>
              </a:solidFill>
              <a:latin typeface="Calibri"/>
              <a:ea typeface="Calibri"/>
              <a:cs typeface="Calibri"/>
              <a:sym typeface="Calibri"/>
            </a:endParaRPr>
          </a:p>
        </p:txBody>
      </p:sp>
      <p:sp>
        <p:nvSpPr>
          <p:cNvPr id="372" name="Google Shape;372;p11"/>
          <p:cNvSpPr/>
          <p:nvPr/>
        </p:nvSpPr>
        <p:spPr>
          <a:xfrm>
            <a:off x="548640" y="31089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MEDIAN LATENCY BY TIER (ms, reference hardware)</a:t>
            </a:r>
            <a:endParaRPr b="0" i="0" sz="1250" u="none" cap="none" strike="noStrike">
              <a:solidFill>
                <a:schemeClr val="dk1"/>
              </a:solidFill>
              <a:latin typeface="Calibri"/>
              <a:ea typeface="Calibri"/>
              <a:cs typeface="Calibri"/>
              <a:sym typeface="Calibri"/>
            </a:endParaRPr>
          </a:p>
        </p:txBody>
      </p:sp>
      <p:pic>
        <p:nvPicPr>
          <p:cNvPr id="373" name="Google Shape;373;p11"/>
          <p:cNvPicPr preferRelativeResize="0"/>
          <p:nvPr/>
        </p:nvPicPr>
        <p:blipFill rotWithShape="1">
          <a:blip r:embed="rId3">
            <a:alphaModFix/>
          </a:blip>
          <a:srcRect b="0" l="0" r="0" t="0"/>
          <a:stretch/>
        </p:blipFill>
        <p:spPr>
          <a:xfrm>
            <a:off x="457200" y="3429000"/>
            <a:ext cx="5486400" cy="2926080"/>
          </a:xfrm>
          <a:prstGeom prst="rect">
            <a:avLst/>
          </a:prstGeom>
          <a:noFill/>
          <a:ln>
            <a:noFill/>
          </a:ln>
        </p:spPr>
      </p:pic>
      <p:sp>
        <p:nvSpPr>
          <p:cNvPr id="374" name="Google Shape;374;p11"/>
          <p:cNvSpPr/>
          <p:nvPr/>
        </p:nvSpPr>
        <p:spPr>
          <a:xfrm>
            <a:off x="6400800" y="31089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50"/>
              <a:buFont typeface="Trebuchet MS"/>
              <a:buNone/>
            </a:pPr>
            <a:r>
              <a:rPr b="1" i="0" lang="en-US" sz="1250" u="none" cap="none" strike="noStrike">
                <a:solidFill>
                  <a:srgbClr val="22D3EE"/>
                </a:solidFill>
                <a:latin typeface="Trebuchet MS"/>
                <a:ea typeface="Trebuchet MS"/>
                <a:cs typeface="Trebuchet MS"/>
                <a:sym typeface="Trebuchet MS"/>
              </a:rPr>
              <a:t>WHAT THE NUMBERS SAY</a:t>
            </a:r>
            <a:endParaRPr b="0" i="0" sz="1250" u="none" cap="none" strike="noStrike">
              <a:solidFill>
                <a:schemeClr val="dk1"/>
              </a:solidFill>
              <a:latin typeface="Calibri"/>
              <a:ea typeface="Calibri"/>
              <a:cs typeface="Calibri"/>
              <a:sym typeface="Calibri"/>
            </a:endParaRPr>
          </a:p>
        </p:txBody>
      </p:sp>
      <p:sp>
        <p:nvSpPr>
          <p:cNvPr id="375" name="Google Shape;375;p11"/>
          <p:cNvSpPr/>
          <p:nvPr/>
        </p:nvSpPr>
        <p:spPr>
          <a:xfrm>
            <a:off x="6400800" y="3474720"/>
            <a:ext cx="5212080" cy="2743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6EDF6"/>
              </a:buClr>
              <a:buSzPts val="1250"/>
              <a:buFont typeface="Calibri"/>
              <a:buChar char="•"/>
            </a:pPr>
            <a:r>
              <a:rPr b="0" i="0" lang="en-US" sz="1250" u="none" cap="none" strike="noStrike">
                <a:solidFill>
                  <a:srgbClr val="E6EDF6"/>
                </a:solidFill>
                <a:latin typeface="Calibri"/>
                <a:ea typeface="Calibri"/>
                <a:cs typeface="Calibri"/>
                <a:sym typeface="Calibri"/>
              </a:rPr>
              <a:t>Plans scored higher than execution (0.84 vs 0.78), so it's better at deciding what to do than landing every API call.</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6EDF6"/>
              </a:buClr>
              <a:buSzPts val="1250"/>
              <a:buFont typeface="Calibri"/>
              <a:buChar char="•"/>
            </a:pPr>
            <a:r>
              <a:rPr b="0" i="0" lang="en-US" sz="1250" u="none" cap="none" strike="noStrike">
                <a:solidFill>
                  <a:srgbClr val="E6EDF6"/>
                </a:solidFill>
                <a:latin typeface="Calibri"/>
                <a:ea typeface="Calibri"/>
                <a:cs typeface="Calibri"/>
                <a:sym typeface="Calibri"/>
              </a:rPr>
              <a:t>Time is dominated by the model thinking, not the tools, and by the Critic and replan steps on tier 3.</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6EDF6"/>
              </a:buClr>
              <a:buSzPts val="1250"/>
              <a:buFont typeface="Calibri"/>
              <a:buChar char="•"/>
            </a:pPr>
            <a:r>
              <a:rPr b="0" i="0" lang="en-US" sz="1250" u="none" cap="none" strike="noStrike">
                <a:solidFill>
                  <a:srgbClr val="E6EDF6"/>
                </a:solidFill>
                <a:latin typeface="Calibri"/>
                <a:ea typeface="Calibri"/>
                <a:cs typeface="Calibri"/>
                <a:sym typeface="Calibri"/>
              </a:rPr>
              <a:t>Replanned tasks took longer but ended up scoring about the same, so the loop is doing its job.</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93A4BC"/>
              </a:buClr>
              <a:buSzPts val="1250"/>
              <a:buFont typeface="Calibri"/>
              <a:buChar char="•"/>
            </a:pPr>
            <a:r>
              <a:rPr b="0" i="0" lang="en-US" sz="1250" u="none" cap="none" strike="noStrike">
                <a:solidFill>
                  <a:srgbClr val="93A4BC"/>
                </a:solidFill>
                <a:latin typeface="Calibri"/>
                <a:ea typeface="Calibri"/>
                <a:cs typeface="Calibri"/>
                <a:sym typeface="Calibri"/>
              </a:rPr>
              <a:t>Limits I'm upfront about: small task set, mostly one model, one laptop, and the Critic is itself a model.</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326"/>
        </a:solidFill>
      </p:bgPr>
    </p:bg>
    <p:spTree>
      <p:nvGrpSpPr>
        <p:cNvPr id="380" name="Shape 380"/>
        <p:cNvGrpSpPr/>
        <p:nvPr/>
      </p:nvGrpSpPr>
      <p:grpSpPr>
        <a:xfrm>
          <a:off x="0" y="0"/>
          <a:ext cx="0" cy="0"/>
          <a:chOff x="0" y="0"/>
          <a:chExt cx="0" cy="0"/>
        </a:xfrm>
      </p:grpSpPr>
      <p:sp>
        <p:nvSpPr>
          <p:cNvPr id="381" name="Google Shape;381;p12"/>
          <p:cNvSpPr/>
          <p:nvPr/>
        </p:nvSpPr>
        <p:spPr>
          <a:xfrm>
            <a:off x="1188720" y="2423160"/>
            <a:ext cx="2011680" cy="2011680"/>
          </a:xfrm>
          <a:prstGeom prst="ellipse">
            <a:avLst/>
          </a:prstGeom>
          <a:noFill/>
          <a:ln cap="flat" cmpd="sng" w="12700">
            <a:solidFill>
              <a:srgbClr val="22D3EE">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p:nvPr/>
        </p:nvSpPr>
        <p:spPr>
          <a:xfrm>
            <a:off x="594360" y="1828800"/>
            <a:ext cx="3200400" cy="3200400"/>
          </a:xfrm>
          <a:prstGeom prst="ellipse">
            <a:avLst/>
          </a:prstGeom>
          <a:noFill/>
          <a:ln cap="flat" cmpd="sng" w="12700">
            <a:solidFill>
              <a:srgbClr val="3B82F6">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2"/>
          <p:cNvSpPr/>
          <p:nvPr/>
        </p:nvSpPr>
        <p:spPr>
          <a:xfrm>
            <a:off x="0" y="1234440"/>
            <a:ext cx="4389120" cy="4389120"/>
          </a:xfrm>
          <a:prstGeom prst="ellipse">
            <a:avLst/>
          </a:prstGeom>
          <a:noFill/>
          <a:ln cap="flat" cmpd="sng" w="12700">
            <a:solidFill>
              <a:srgbClr val="22D3EE">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594360" y="640080"/>
            <a:ext cx="5577840" cy="5577840"/>
          </a:xfrm>
          <a:prstGeom prst="ellipse">
            <a:avLst/>
          </a:prstGeom>
          <a:noFill/>
          <a:ln cap="flat" cmpd="sng" w="12700">
            <a:solidFill>
              <a:srgbClr val="3B82F6">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1188720" y="45720"/>
            <a:ext cx="6766560" cy="6766560"/>
          </a:xfrm>
          <a:prstGeom prst="ellipse">
            <a:avLst/>
          </a:prstGeom>
          <a:noFill/>
          <a:ln cap="flat" cmpd="sng" w="12700">
            <a:solidFill>
              <a:srgbClr val="22D3EE">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1737360" y="2971800"/>
            <a:ext cx="914400" cy="914400"/>
          </a:xfrm>
          <a:prstGeom prst="ellipse">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7" name="Google Shape;387;p12"/>
          <p:cNvPicPr preferRelativeResize="0"/>
          <p:nvPr/>
        </p:nvPicPr>
        <p:blipFill rotWithShape="1">
          <a:blip r:embed="rId3">
            <a:alphaModFix/>
          </a:blip>
          <a:srcRect b="0" l="0" r="0" t="0"/>
          <a:stretch/>
        </p:blipFill>
        <p:spPr>
          <a:xfrm>
            <a:off x="2029968" y="3264408"/>
            <a:ext cx="329184" cy="329184"/>
          </a:xfrm>
          <a:prstGeom prst="rect">
            <a:avLst/>
          </a:prstGeom>
          <a:noFill/>
          <a:ln>
            <a:noFill/>
          </a:ln>
        </p:spPr>
      </p:pic>
      <p:sp>
        <p:nvSpPr>
          <p:cNvPr id="388" name="Google Shape;388;p12"/>
          <p:cNvSpPr/>
          <p:nvPr/>
        </p:nvSpPr>
        <p:spPr>
          <a:xfrm>
            <a:off x="4206240" y="137160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400"/>
              <a:buFont typeface="Trebuchet MS"/>
              <a:buNone/>
            </a:pPr>
            <a:r>
              <a:rPr b="1" i="0" lang="en-US" sz="1400" u="none" cap="none" strike="noStrike">
                <a:solidFill>
                  <a:srgbClr val="22D3EE"/>
                </a:solidFill>
                <a:latin typeface="Trebuchet MS"/>
                <a:ea typeface="Trebuchet MS"/>
                <a:cs typeface="Trebuchet MS"/>
                <a:sym typeface="Trebuchet MS"/>
              </a:rPr>
              <a:t>LIVE DEMONSTRATION</a:t>
            </a:r>
            <a:endParaRPr b="0" i="0" sz="1400" u="none" cap="none" strike="noStrike">
              <a:solidFill>
                <a:schemeClr val="dk1"/>
              </a:solidFill>
              <a:latin typeface="Calibri"/>
              <a:ea typeface="Calibri"/>
              <a:cs typeface="Calibri"/>
              <a:sym typeface="Calibri"/>
            </a:endParaRPr>
          </a:p>
        </p:txBody>
      </p:sp>
      <p:sp>
        <p:nvSpPr>
          <p:cNvPr id="389" name="Google Shape;389;p12"/>
          <p:cNvSpPr/>
          <p:nvPr/>
        </p:nvSpPr>
        <p:spPr>
          <a:xfrm>
            <a:off x="4160520" y="1755648"/>
            <a:ext cx="7498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4000"/>
              <a:buFont typeface="Trebuchet MS"/>
              <a:buNone/>
            </a:pPr>
            <a:r>
              <a:rPr b="1" i="0" lang="en-US" sz="4000" u="none" cap="none" strike="noStrike">
                <a:solidFill>
                  <a:srgbClr val="E6EDF6"/>
                </a:solidFill>
                <a:latin typeface="Trebuchet MS"/>
                <a:ea typeface="Trebuchet MS"/>
                <a:cs typeface="Trebuchet MS"/>
                <a:sym typeface="Trebuchet MS"/>
              </a:rPr>
              <a:t>Jarvis in action</a:t>
            </a:r>
            <a:endParaRPr b="0" i="0" sz="4000" u="none" cap="none" strike="noStrike">
              <a:solidFill>
                <a:schemeClr val="dk1"/>
              </a:solidFill>
              <a:latin typeface="Calibri"/>
              <a:ea typeface="Calibri"/>
              <a:cs typeface="Calibri"/>
              <a:sym typeface="Calibri"/>
            </a:endParaRPr>
          </a:p>
        </p:txBody>
      </p:sp>
      <p:sp>
        <p:nvSpPr>
          <p:cNvPr id="390" name="Google Shape;390;p12"/>
          <p:cNvSpPr/>
          <p:nvPr/>
        </p:nvSpPr>
        <p:spPr>
          <a:xfrm>
            <a:off x="4206240" y="2578608"/>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1400"/>
              <a:buFont typeface="Calibri"/>
              <a:buNone/>
            </a:pPr>
            <a:r>
              <a:rPr b="0" i="1" lang="en-US" sz="1400" u="none" cap="none" strike="noStrike">
                <a:solidFill>
                  <a:srgbClr val="60A5FA"/>
                </a:solidFill>
                <a:latin typeface="Calibri"/>
                <a:ea typeface="Calibri"/>
                <a:cs typeface="Calibri"/>
                <a:sym typeface="Calibri"/>
              </a:rPr>
              <a:t>≈ 5 minutes  ·  voice + heads-up display</a:t>
            </a:r>
            <a:endParaRPr b="0" i="0" sz="1400" u="none" cap="none" strike="noStrike">
              <a:solidFill>
                <a:schemeClr val="dk1"/>
              </a:solidFill>
              <a:latin typeface="Calibri"/>
              <a:ea typeface="Calibri"/>
              <a:cs typeface="Calibri"/>
              <a:sym typeface="Calibri"/>
            </a:endParaRPr>
          </a:p>
        </p:txBody>
      </p:sp>
      <p:sp>
        <p:nvSpPr>
          <p:cNvPr id="391" name="Google Shape;391;p12"/>
          <p:cNvSpPr/>
          <p:nvPr/>
        </p:nvSpPr>
        <p:spPr>
          <a:xfrm>
            <a:off x="4206240" y="3154680"/>
            <a:ext cx="7452360" cy="566928"/>
          </a:xfrm>
          <a:prstGeom prst="roundRect">
            <a:avLst>
              <a:gd fmla="val 12903"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4370832" y="3273552"/>
            <a:ext cx="329184" cy="329184"/>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3" name="Google Shape;393;p12"/>
          <p:cNvPicPr preferRelativeResize="0"/>
          <p:nvPr/>
        </p:nvPicPr>
        <p:blipFill rotWithShape="1">
          <a:blip r:embed="rId4">
            <a:alphaModFix/>
          </a:blip>
          <a:srcRect b="0" l="0" r="0" t="0"/>
          <a:stretch/>
        </p:blipFill>
        <p:spPr>
          <a:xfrm>
            <a:off x="4457700" y="3360420"/>
            <a:ext cx="155448" cy="155448"/>
          </a:xfrm>
          <a:prstGeom prst="rect">
            <a:avLst/>
          </a:prstGeom>
          <a:noFill/>
          <a:ln>
            <a:noFill/>
          </a:ln>
        </p:spPr>
      </p:pic>
      <p:sp>
        <p:nvSpPr>
          <p:cNvPr id="394" name="Google Shape;394;p12"/>
          <p:cNvSpPr/>
          <p:nvPr/>
        </p:nvSpPr>
        <p:spPr>
          <a:xfrm>
            <a:off x="4846320" y="3218688"/>
            <a:ext cx="2194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Tier 1 — instant</a:t>
            </a:r>
            <a:endParaRPr b="0" i="0" sz="1250" u="none" cap="none" strike="noStrike">
              <a:solidFill>
                <a:schemeClr val="dk1"/>
              </a:solidFill>
              <a:latin typeface="Calibri"/>
              <a:ea typeface="Calibri"/>
              <a:cs typeface="Calibri"/>
              <a:sym typeface="Calibri"/>
            </a:endParaRPr>
          </a:p>
        </p:txBody>
      </p:sp>
      <p:sp>
        <p:nvSpPr>
          <p:cNvPr id="395" name="Google Shape;395;p12"/>
          <p:cNvSpPr/>
          <p:nvPr/>
        </p:nvSpPr>
        <p:spPr>
          <a:xfrm>
            <a:off x="7086600" y="3218688"/>
            <a:ext cx="4480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“What's the weather?” / “Play focus music, volume 60” — comes straight back</a:t>
            </a:r>
            <a:endParaRPr b="0" i="0" sz="1050" u="none" cap="none" strike="noStrike">
              <a:solidFill>
                <a:schemeClr val="dk1"/>
              </a:solidFill>
              <a:latin typeface="Calibri"/>
              <a:ea typeface="Calibri"/>
              <a:cs typeface="Calibri"/>
              <a:sym typeface="Calibri"/>
            </a:endParaRPr>
          </a:p>
        </p:txBody>
      </p:sp>
      <p:sp>
        <p:nvSpPr>
          <p:cNvPr id="396" name="Google Shape;396;p12"/>
          <p:cNvSpPr/>
          <p:nvPr/>
        </p:nvSpPr>
        <p:spPr>
          <a:xfrm>
            <a:off x="4206240" y="3831336"/>
            <a:ext cx="7452360" cy="566928"/>
          </a:xfrm>
          <a:prstGeom prst="roundRect">
            <a:avLst>
              <a:gd fmla="val 12903"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2"/>
          <p:cNvSpPr/>
          <p:nvPr/>
        </p:nvSpPr>
        <p:spPr>
          <a:xfrm>
            <a:off x="4370832" y="3950208"/>
            <a:ext cx="329184" cy="329184"/>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12"/>
          <p:cNvPicPr preferRelativeResize="0"/>
          <p:nvPr/>
        </p:nvPicPr>
        <p:blipFill rotWithShape="1">
          <a:blip r:embed="rId5">
            <a:alphaModFix/>
          </a:blip>
          <a:srcRect b="0" l="0" r="0" t="0"/>
          <a:stretch/>
        </p:blipFill>
        <p:spPr>
          <a:xfrm>
            <a:off x="4457700" y="4037076"/>
            <a:ext cx="155448" cy="155448"/>
          </a:xfrm>
          <a:prstGeom prst="rect">
            <a:avLst/>
          </a:prstGeom>
          <a:noFill/>
          <a:ln>
            <a:noFill/>
          </a:ln>
        </p:spPr>
      </p:pic>
      <p:sp>
        <p:nvSpPr>
          <p:cNvPr id="399" name="Google Shape;399;p12"/>
          <p:cNvSpPr/>
          <p:nvPr/>
        </p:nvSpPr>
        <p:spPr>
          <a:xfrm>
            <a:off x="4846320" y="3895344"/>
            <a:ext cx="2194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Tier 2 — single hop</a:t>
            </a:r>
            <a:endParaRPr b="0" i="0" sz="1250" u="none" cap="none" strike="noStrike">
              <a:solidFill>
                <a:schemeClr val="dk1"/>
              </a:solidFill>
              <a:latin typeface="Calibri"/>
              <a:ea typeface="Calibri"/>
              <a:cs typeface="Calibri"/>
              <a:sym typeface="Calibri"/>
            </a:endParaRPr>
          </a:p>
        </p:txBody>
      </p:sp>
      <p:sp>
        <p:nvSpPr>
          <p:cNvPr id="400" name="Google Shape;400;p12"/>
          <p:cNvSpPr/>
          <p:nvPr/>
        </p:nvSpPr>
        <p:spPr>
          <a:xfrm>
            <a:off x="7086600" y="3895344"/>
            <a:ext cx="4480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A factual question, answered with a web search</a:t>
            </a:r>
            <a:endParaRPr b="0" i="0" sz="1050" u="none" cap="none" strike="noStrike">
              <a:solidFill>
                <a:schemeClr val="dk1"/>
              </a:solidFill>
              <a:latin typeface="Calibri"/>
              <a:ea typeface="Calibri"/>
              <a:cs typeface="Calibri"/>
              <a:sym typeface="Calibri"/>
            </a:endParaRPr>
          </a:p>
        </p:txBody>
      </p:sp>
      <p:sp>
        <p:nvSpPr>
          <p:cNvPr id="401" name="Google Shape;401;p12"/>
          <p:cNvSpPr/>
          <p:nvPr/>
        </p:nvSpPr>
        <p:spPr>
          <a:xfrm>
            <a:off x="4206240" y="4507992"/>
            <a:ext cx="7452360" cy="566928"/>
          </a:xfrm>
          <a:prstGeom prst="roundRect">
            <a:avLst>
              <a:gd fmla="val 12903"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2"/>
          <p:cNvSpPr/>
          <p:nvPr/>
        </p:nvSpPr>
        <p:spPr>
          <a:xfrm>
            <a:off x="4370832" y="4626864"/>
            <a:ext cx="329184" cy="329184"/>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3" name="Google Shape;403;p12"/>
          <p:cNvPicPr preferRelativeResize="0"/>
          <p:nvPr/>
        </p:nvPicPr>
        <p:blipFill rotWithShape="1">
          <a:blip r:embed="rId6">
            <a:alphaModFix/>
          </a:blip>
          <a:srcRect b="0" l="0" r="0" t="0"/>
          <a:stretch/>
        </p:blipFill>
        <p:spPr>
          <a:xfrm>
            <a:off x="4457700" y="4713732"/>
            <a:ext cx="155448" cy="155448"/>
          </a:xfrm>
          <a:prstGeom prst="rect">
            <a:avLst/>
          </a:prstGeom>
          <a:noFill/>
          <a:ln>
            <a:noFill/>
          </a:ln>
        </p:spPr>
      </p:pic>
      <p:sp>
        <p:nvSpPr>
          <p:cNvPr id="404" name="Google Shape;404;p12"/>
          <p:cNvSpPr/>
          <p:nvPr/>
        </p:nvSpPr>
        <p:spPr>
          <a:xfrm>
            <a:off x="4846320" y="4572000"/>
            <a:ext cx="2194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Tier 3 — full plan</a:t>
            </a:r>
            <a:endParaRPr b="0" i="0" sz="1250" u="none" cap="none" strike="noStrike">
              <a:solidFill>
                <a:schemeClr val="dk1"/>
              </a:solidFill>
              <a:latin typeface="Calibri"/>
              <a:ea typeface="Calibri"/>
              <a:cs typeface="Calibri"/>
              <a:sym typeface="Calibri"/>
            </a:endParaRPr>
          </a:p>
        </p:txBody>
      </p:sp>
      <p:sp>
        <p:nvSpPr>
          <p:cNvPr id="405" name="Google Shape;405;p12"/>
          <p:cNvSpPr/>
          <p:nvPr/>
        </p:nvSpPr>
        <p:spPr>
          <a:xfrm>
            <a:off x="7086600" y="4572000"/>
            <a:ext cx="4480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“Get the news, check the weather, give me a morning briefing” — watch it run</a:t>
            </a:r>
            <a:endParaRPr b="0" i="0" sz="1050" u="none" cap="none" strike="noStrike">
              <a:solidFill>
                <a:schemeClr val="dk1"/>
              </a:solidFill>
              <a:latin typeface="Calibri"/>
              <a:ea typeface="Calibri"/>
              <a:cs typeface="Calibri"/>
              <a:sym typeface="Calibri"/>
            </a:endParaRPr>
          </a:p>
        </p:txBody>
      </p:sp>
      <p:sp>
        <p:nvSpPr>
          <p:cNvPr id="406" name="Google Shape;406;p12"/>
          <p:cNvSpPr/>
          <p:nvPr/>
        </p:nvSpPr>
        <p:spPr>
          <a:xfrm>
            <a:off x="4206240" y="5184648"/>
            <a:ext cx="7452360" cy="566928"/>
          </a:xfrm>
          <a:prstGeom prst="roundRect">
            <a:avLst>
              <a:gd fmla="val 12903"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4370832" y="5303520"/>
            <a:ext cx="329184" cy="329184"/>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8" name="Google Shape;408;p12"/>
          <p:cNvPicPr preferRelativeResize="0"/>
          <p:nvPr/>
        </p:nvPicPr>
        <p:blipFill rotWithShape="1">
          <a:blip r:embed="rId7">
            <a:alphaModFix/>
          </a:blip>
          <a:srcRect b="0" l="0" r="0" t="0"/>
          <a:stretch/>
        </p:blipFill>
        <p:spPr>
          <a:xfrm>
            <a:off x="4457700" y="5390388"/>
            <a:ext cx="155448" cy="155448"/>
          </a:xfrm>
          <a:prstGeom prst="rect">
            <a:avLst/>
          </a:prstGeom>
          <a:noFill/>
          <a:ln>
            <a:noFill/>
          </a:ln>
        </p:spPr>
      </p:pic>
      <p:sp>
        <p:nvSpPr>
          <p:cNvPr id="409" name="Google Shape;409;p12"/>
          <p:cNvSpPr/>
          <p:nvPr/>
        </p:nvSpPr>
        <p:spPr>
          <a:xfrm>
            <a:off x="4846320" y="5248656"/>
            <a:ext cx="2194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Voice + confirm</a:t>
            </a:r>
            <a:endParaRPr b="0" i="0" sz="1250" u="none" cap="none" strike="noStrike">
              <a:solidFill>
                <a:schemeClr val="dk1"/>
              </a:solidFill>
              <a:latin typeface="Calibri"/>
              <a:ea typeface="Calibri"/>
              <a:cs typeface="Calibri"/>
              <a:sym typeface="Calibri"/>
            </a:endParaRPr>
          </a:p>
        </p:txBody>
      </p:sp>
      <p:sp>
        <p:nvSpPr>
          <p:cNvPr id="410" name="Google Shape;410;p12"/>
          <p:cNvSpPr/>
          <p:nvPr/>
        </p:nvSpPr>
        <p:spPr>
          <a:xfrm>
            <a:off x="7086600" y="5248656"/>
            <a:ext cx="4480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Wake word → spoken request → it asks before a calendar/email action</a:t>
            </a:r>
            <a:endParaRPr b="0" i="0" sz="1050" u="none" cap="none" strike="noStrike">
              <a:solidFill>
                <a:schemeClr val="dk1"/>
              </a:solidFill>
              <a:latin typeface="Calibri"/>
              <a:ea typeface="Calibri"/>
              <a:cs typeface="Calibri"/>
              <a:sym typeface="Calibri"/>
            </a:endParaRPr>
          </a:p>
        </p:txBody>
      </p:sp>
      <p:sp>
        <p:nvSpPr>
          <p:cNvPr id="411" name="Google Shape;411;p12"/>
          <p:cNvSpPr/>
          <p:nvPr/>
        </p:nvSpPr>
        <p:spPr>
          <a:xfrm>
            <a:off x="4206240" y="5861304"/>
            <a:ext cx="7452360" cy="566928"/>
          </a:xfrm>
          <a:prstGeom prst="roundRect">
            <a:avLst>
              <a:gd fmla="val 12903"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p:nvPr/>
        </p:nvSpPr>
        <p:spPr>
          <a:xfrm>
            <a:off x="4370832" y="5980176"/>
            <a:ext cx="329184" cy="329184"/>
          </a:xfrm>
          <a:prstGeom prst="ellipse">
            <a:avLst/>
          </a:prstGeom>
          <a:solidFill>
            <a:srgbClr val="0C1326"/>
          </a:solidFill>
          <a:ln cap="flat" cmpd="sng" w="1395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3" name="Google Shape;413;p12"/>
          <p:cNvPicPr preferRelativeResize="0"/>
          <p:nvPr/>
        </p:nvPicPr>
        <p:blipFill rotWithShape="1">
          <a:blip r:embed="rId8">
            <a:alphaModFix/>
          </a:blip>
          <a:srcRect b="0" l="0" r="0" t="0"/>
          <a:stretch/>
        </p:blipFill>
        <p:spPr>
          <a:xfrm>
            <a:off x="4457700" y="6067044"/>
            <a:ext cx="155448" cy="155448"/>
          </a:xfrm>
          <a:prstGeom prst="rect">
            <a:avLst/>
          </a:prstGeom>
          <a:noFill/>
          <a:ln>
            <a:noFill/>
          </a:ln>
        </p:spPr>
      </p:pic>
      <p:sp>
        <p:nvSpPr>
          <p:cNvPr id="414" name="Google Shape;414;p12"/>
          <p:cNvSpPr/>
          <p:nvPr/>
        </p:nvSpPr>
        <p:spPr>
          <a:xfrm>
            <a:off x="4846320" y="5925312"/>
            <a:ext cx="2194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250"/>
              <a:buFont typeface="Trebuchet MS"/>
              <a:buNone/>
            </a:pPr>
            <a:r>
              <a:rPr b="1" i="0" lang="en-US" sz="1250" u="none" cap="none" strike="noStrike">
                <a:solidFill>
                  <a:srgbClr val="E6EDF6"/>
                </a:solidFill>
                <a:latin typeface="Trebuchet MS"/>
                <a:ea typeface="Trebuchet MS"/>
                <a:cs typeface="Trebuchet MS"/>
                <a:sym typeface="Trebuchet MS"/>
              </a:rPr>
              <a:t>FinEx</a:t>
            </a:r>
            <a:endParaRPr b="0" i="0" sz="1250" u="none" cap="none" strike="noStrike">
              <a:solidFill>
                <a:schemeClr val="dk1"/>
              </a:solidFill>
              <a:latin typeface="Calibri"/>
              <a:ea typeface="Calibri"/>
              <a:cs typeface="Calibri"/>
              <a:sym typeface="Calibri"/>
            </a:endParaRPr>
          </a:p>
        </p:txBody>
      </p:sp>
      <p:sp>
        <p:nvSpPr>
          <p:cNvPr id="415" name="Google Shape;415;p12"/>
          <p:cNvSpPr/>
          <p:nvPr/>
        </p:nvSpPr>
        <p:spPr>
          <a:xfrm>
            <a:off x="7086600" y="5925312"/>
            <a:ext cx="44805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50"/>
              <a:buFont typeface="Calibri"/>
              <a:buNone/>
            </a:pPr>
            <a:r>
              <a:rPr b="0" i="0" lang="en-US" sz="1050" u="none" cap="none" strike="noStrike">
                <a:solidFill>
                  <a:srgbClr val="93A4BC"/>
                </a:solidFill>
                <a:latin typeface="Calibri"/>
                <a:ea typeface="Calibri"/>
                <a:cs typeface="Calibri"/>
                <a:sym typeface="Calibri"/>
              </a:rPr>
              <a:t>Ask a question against an annual-report PDF</a:t>
            </a:r>
            <a:endParaRPr b="0" i="0" sz="1050" u="none" cap="none" strike="noStrike">
              <a:solidFill>
                <a:schemeClr val="dk1"/>
              </a:solidFill>
              <a:latin typeface="Calibri"/>
              <a:ea typeface="Calibri"/>
              <a:cs typeface="Calibri"/>
              <a:sym typeface="Calibri"/>
            </a:endParaRPr>
          </a:p>
        </p:txBody>
      </p:sp>
      <p:sp>
        <p:nvSpPr>
          <p:cNvPr id="416" name="Google Shape;416;p12"/>
          <p:cNvSpPr/>
          <p:nvPr/>
        </p:nvSpPr>
        <p:spPr>
          <a:xfrm>
            <a:off x="4206240" y="64465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000"/>
              <a:buFont typeface="Calibri"/>
              <a:buNone/>
            </a:pPr>
            <a:r>
              <a:rPr b="0" i="1" lang="en-US" sz="1000" u="none" cap="none" strike="noStrike">
                <a:solidFill>
                  <a:srgbClr val="93A4BC"/>
                </a:solidFill>
                <a:latin typeface="Calibri"/>
                <a:ea typeface="Calibri"/>
                <a:cs typeface="Calibri"/>
                <a:sym typeface="Calibri"/>
              </a:rPr>
              <a:t>Backup screen-recording ready in case the live run stalls.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421" name="Shape 421"/>
        <p:cNvGrpSpPr/>
        <p:nvPr/>
      </p:nvGrpSpPr>
      <p:grpSpPr>
        <a:xfrm>
          <a:off x="0" y="0"/>
          <a:ext cx="0" cy="0"/>
          <a:chOff x="0" y="0"/>
          <a:chExt cx="0" cy="0"/>
        </a:xfrm>
      </p:grpSpPr>
      <p:sp>
        <p:nvSpPr>
          <p:cNvPr id="422" name="Google Shape;422;p13"/>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06</a:t>
            </a:r>
            <a:endParaRPr b="0" i="0" sz="3000" u="none" cap="none" strike="noStrike">
              <a:solidFill>
                <a:schemeClr val="dk1"/>
              </a:solidFill>
              <a:latin typeface="Calibri"/>
              <a:ea typeface="Calibri"/>
              <a:cs typeface="Calibri"/>
              <a:sym typeface="Calibri"/>
            </a:endParaRPr>
          </a:p>
        </p:txBody>
      </p:sp>
      <p:sp>
        <p:nvSpPr>
          <p:cNvPr id="423" name="Google Shape;423;p13"/>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6 · CONCLUSION</a:t>
            </a:r>
            <a:endParaRPr b="0" i="0" sz="1200" u="none" cap="none" strike="noStrike">
              <a:solidFill>
                <a:schemeClr val="dk1"/>
              </a:solidFill>
              <a:latin typeface="Calibri"/>
              <a:ea typeface="Calibri"/>
              <a:cs typeface="Calibri"/>
              <a:sym typeface="Calibri"/>
            </a:endParaRPr>
          </a:p>
        </p:txBody>
      </p:sp>
      <p:sp>
        <p:nvSpPr>
          <p:cNvPr id="424" name="Google Shape;424;p13"/>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The bottleneck is the architecture, not the model</a:t>
            </a:r>
            <a:endParaRPr b="0" i="0" sz="3000" u="none" cap="none" strike="noStrike">
              <a:solidFill>
                <a:schemeClr val="dk1"/>
              </a:solidFill>
              <a:latin typeface="Calibri"/>
              <a:ea typeface="Calibri"/>
              <a:cs typeface="Calibri"/>
              <a:sym typeface="Calibri"/>
            </a:endParaRPr>
          </a:p>
        </p:txBody>
      </p:sp>
      <p:sp>
        <p:nvSpPr>
          <p:cNvPr id="425" name="Google Shape;425;p13"/>
          <p:cNvSpPr/>
          <p:nvPr/>
        </p:nvSpPr>
        <p:spPr>
          <a:xfrm>
            <a:off x="548640" y="1517904"/>
            <a:ext cx="11091672" cy="1051560"/>
          </a:xfrm>
          <a:prstGeom prst="roundRect">
            <a:avLst>
              <a:gd fmla="val 6957" name="adj"/>
            </a:avLst>
          </a:prstGeom>
          <a:solidFill>
            <a:srgbClr val="1B2742"/>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3"/>
          <p:cNvSpPr/>
          <p:nvPr/>
        </p:nvSpPr>
        <p:spPr>
          <a:xfrm>
            <a:off x="548640" y="1517904"/>
            <a:ext cx="82296" cy="1051560"/>
          </a:xfrm>
          <a:prstGeom prst="rect">
            <a:avLst/>
          </a:prstGeom>
          <a:solidFill>
            <a:srgbClr val="22D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822960" y="1627632"/>
            <a:ext cx="106070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Calibri"/>
              <a:buNone/>
            </a:pPr>
            <a:r>
              <a:rPr b="0" i="0" lang="en-US" sz="1500" u="none" cap="none" strike="noStrike">
                <a:solidFill>
                  <a:srgbClr val="E6EDF6"/>
                </a:solidFill>
                <a:latin typeface="Calibri"/>
                <a:ea typeface="Calibri"/>
                <a:cs typeface="Calibri"/>
                <a:sym typeface="Calibri"/>
              </a:rPr>
              <a:t>A small local model (~3B) reached a mean 0.83 with every task passing, and that came from how the system is put together, </a:t>
            </a:r>
            <a:r>
              <a:rPr b="1" i="0" lang="en-US" sz="1500" u="none" cap="none" strike="noStrike">
                <a:solidFill>
                  <a:srgbClr val="22D3EE"/>
                </a:solidFill>
                <a:latin typeface="Calibri"/>
                <a:ea typeface="Calibri"/>
                <a:cs typeface="Calibri"/>
                <a:sym typeface="Calibri"/>
              </a:rPr>
              <a:t>not from a bigger or fancier model.</a:t>
            </a:r>
            <a:endParaRPr b="0" i="0" sz="1500" u="none" cap="none" strike="noStrike">
              <a:solidFill>
                <a:schemeClr val="dk1"/>
              </a:solidFill>
              <a:latin typeface="Calibri"/>
              <a:ea typeface="Calibri"/>
              <a:cs typeface="Calibri"/>
              <a:sym typeface="Calibri"/>
            </a:endParaRPr>
          </a:p>
        </p:txBody>
      </p:sp>
      <p:sp>
        <p:nvSpPr>
          <p:cNvPr id="428" name="Google Shape;428;p13"/>
          <p:cNvSpPr/>
          <p:nvPr/>
        </p:nvSpPr>
        <p:spPr>
          <a:xfrm>
            <a:off x="548640" y="27432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300"/>
              <a:buFont typeface="Trebuchet MS"/>
              <a:buNone/>
            </a:pPr>
            <a:r>
              <a:rPr b="1" i="0" lang="en-US" sz="1300" u="none" cap="none" strike="noStrike">
                <a:solidFill>
                  <a:srgbClr val="22D3EE"/>
                </a:solidFill>
                <a:latin typeface="Trebuchet MS"/>
                <a:ea typeface="Trebuchet MS"/>
                <a:cs typeface="Trebuchet MS"/>
                <a:sym typeface="Trebuchet MS"/>
              </a:rPr>
              <a:t>THREE THINGS I'D CALL CONTRIBUTIONS</a:t>
            </a:r>
            <a:endParaRPr b="0" i="0" sz="1300" u="none" cap="none" strike="noStrike">
              <a:solidFill>
                <a:schemeClr val="dk1"/>
              </a:solidFill>
              <a:latin typeface="Calibri"/>
              <a:ea typeface="Calibri"/>
              <a:cs typeface="Calibri"/>
              <a:sym typeface="Calibri"/>
            </a:endParaRPr>
          </a:p>
        </p:txBody>
      </p:sp>
      <p:sp>
        <p:nvSpPr>
          <p:cNvPr id="429" name="Google Shape;429;p13"/>
          <p:cNvSpPr/>
          <p:nvPr/>
        </p:nvSpPr>
        <p:spPr>
          <a:xfrm>
            <a:off x="548640" y="3108960"/>
            <a:ext cx="3657600" cy="2121408"/>
          </a:xfrm>
          <a:prstGeom prst="roundRect">
            <a:avLst>
              <a:gd fmla="val 3448"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822960" y="3337560"/>
            <a:ext cx="603504" cy="603504"/>
          </a:xfrm>
          <a:prstGeom prst="ellipse">
            <a:avLst/>
          </a:prstGeom>
          <a:solidFill>
            <a:srgbClr val="0C1326"/>
          </a:solidFill>
          <a:ln cap="flat" cmpd="sng" w="1777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1" name="Google Shape;431;p13"/>
          <p:cNvPicPr preferRelativeResize="0"/>
          <p:nvPr/>
        </p:nvPicPr>
        <p:blipFill rotWithShape="1">
          <a:blip r:embed="rId3">
            <a:alphaModFix/>
          </a:blip>
          <a:srcRect b="0" l="0" r="0" t="0"/>
          <a:stretch/>
        </p:blipFill>
        <p:spPr>
          <a:xfrm>
            <a:off x="969264" y="3483864"/>
            <a:ext cx="310896" cy="310896"/>
          </a:xfrm>
          <a:prstGeom prst="rect">
            <a:avLst/>
          </a:prstGeom>
          <a:noFill/>
          <a:ln>
            <a:noFill/>
          </a:ln>
        </p:spPr>
      </p:pic>
      <p:sp>
        <p:nvSpPr>
          <p:cNvPr id="432" name="Google Shape;432;p13"/>
          <p:cNvSpPr/>
          <p:nvPr/>
        </p:nvSpPr>
        <p:spPr>
          <a:xfrm>
            <a:off x="822960" y="404164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Tier-based routing</a:t>
            </a:r>
            <a:endParaRPr b="0" i="0" sz="1500" u="none" cap="none" strike="noStrike">
              <a:solidFill>
                <a:schemeClr val="dk1"/>
              </a:solidFill>
              <a:latin typeface="Calibri"/>
              <a:ea typeface="Calibri"/>
              <a:cs typeface="Calibri"/>
              <a:sym typeface="Calibri"/>
            </a:endParaRPr>
          </a:p>
        </p:txBody>
      </p:sp>
      <p:sp>
        <p:nvSpPr>
          <p:cNvPr id="433" name="Google Shape;433;p13"/>
          <p:cNvSpPr/>
          <p:nvPr/>
        </p:nvSpPr>
        <p:spPr>
          <a:xfrm>
            <a:off x="822960" y="4407408"/>
            <a:ext cx="3200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Only pay the coordination cost when the task is actually worth it</a:t>
            </a:r>
            <a:endParaRPr b="0" i="0" sz="1150" u="none" cap="none" strike="noStrike">
              <a:solidFill>
                <a:schemeClr val="dk1"/>
              </a:solidFill>
              <a:latin typeface="Calibri"/>
              <a:ea typeface="Calibri"/>
              <a:cs typeface="Calibri"/>
              <a:sym typeface="Calibri"/>
            </a:endParaRPr>
          </a:p>
        </p:txBody>
      </p:sp>
      <p:sp>
        <p:nvSpPr>
          <p:cNvPr id="434" name="Google Shape;434;p13"/>
          <p:cNvSpPr/>
          <p:nvPr/>
        </p:nvSpPr>
        <p:spPr>
          <a:xfrm>
            <a:off x="4270248" y="3108960"/>
            <a:ext cx="3657600" cy="2121408"/>
          </a:xfrm>
          <a:prstGeom prst="roundRect">
            <a:avLst>
              <a:gd fmla="val 3448"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4544568" y="3337560"/>
            <a:ext cx="603504" cy="603504"/>
          </a:xfrm>
          <a:prstGeom prst="ellipse">
            <a:avLst/>
          </a:prstGeom>
          <a:solidFill>
            <a:srgbClr val="0C1326"/>
          </a:solidFill>
          <a:ln cap="flat" cmpd="sng" w="1777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6" name="Google Shape;436;p13"/>
          <p:cNvPicPr preferRelativeResize="0"/>
          <p:nvPr/>
        </p:nvPicPr>
        <p:blipFill rotWithShape="1">
          <a:blip r:embed="rId4">
            <a:alphaModFix/>
          </a:blip>
          <a:srcRect b="0" l="0" r="0" t="0"/>
          <a:stretch/>
        </p:blipFill>
        <p:spPr>
          <a:xfrm>
            <a:off x="4690872" y="3483864"/>
            <a:ext cx="310896" cy="310896"/>
          </a:xfrm>
          <a:prstGeom prst="rect">
            <a:avLst/>
          </a:prstGeom>
          <a:noFill/>
          <a:ln>
            <a:noFill/>
          </a:ln>
        </p:spPr>
      </p:pic>
      <p:sp>
        <p:nvSpPr>
          <p:cNvPr id="437" name="Google Shape;437;p13"/>
          <p:cNvSpPr/>
          <p:nvPr/>
        </p:nvSpPr>
        <p:spPr>
          <a:xfrm>
            <a:off x="4544568" y="404164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Templated injection</a:t>
            </a:r>
            <a:endParaRPr b="0" i="0" sz="1500" u="none" cap="none" strike="noStrike">
              <a:solidFill>
                <a:schemeClr val="dk1"/>
              </a:solidFill>
              <a:latin typeface="Calibri"/>
              <a:ea typeface="Calibri"/>
              <a:cs typeface="Calibri"/>
              <a:sym typeface="Calibri"/>
            </a:endParaRPr>
          </a:p>
        </p:txBody>
      </p:sp>
      <p:sp>
        <p:nvSpPr>
          <p:cNvPr id="438" name="Google Shape;438;p13"/>
          <p:cNvSpPr/>
          <p:nvPr/>
        </p:nvSpPr>
        <p:spPr>
          <a:xfrm>
            <a:off x="4544568" y="4407408"/>
            <a:ext cx="3200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{subtask.result.field} keeps the planner separate from the data, so plans can be reused</a:t>
            </a:r>
            <a:endParaRPr b="0" i="0" sz="1150" u="none" cap="none" strike="noStrike">
              <a:solidFill>
                <a:schemeClr val="dk1"/>
              </a:solidFill>
              <a:latin typeface="Calibri"/>
              <a:ea typeface="Calibri"/>
              <a:cs typeface="Calibri"/>
              <a:sym typeface="Calibri"/>
            </a:endParaRPr>
          </a:p>
        </p:txBody>
      </p:sp>
      <p:sp>
        <p:nvSpPr>
          <p:cNvPr id="439" name="Google Shape;439;p13"/>
          <p:cNvSpPr/>
          <p:nvPr/>
        </p:nvSpPr>
        <p:spPr>
          <a:xfrm>
            <a:off x="7991856" y="3108960"/>
            <a:ext cx="3657600" cy="2121408"/>
          </a:xfrm>
          <a:prstGeom prst="roundRect">
            <a:avLst>
              <a:gd fmla="val 3448"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8266176" y="3337560"/>
            <a:ext cx="603504" cy="603504"/>
          </a:xfrm>
          <a:prstGeom prst="ellipse">
            <a:avLst/>
          </a:prstGeom>
          <a:solidFill>
            <a:srgbClr val="0C1326"/>
          </a:solidFill>
          <a:ln cap="flat" cmpd="sng" w="17775">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1" name="Google Shape;441;p13"/>
          <p:cNvPicPr preferRelativeResize="0"/>
          <p:nvPr/>
        </p:nvPicPr>
        <p:blipFill rotWithShape="1">
          <a:blip r:embed="rId5">
            <a:alphaModFix/>
          </a:blip>
          <a:srcRect b="0" l="0" r="0" t="0"/>
          <a:stretch/>
        </p:blipFill>
        <p:spPr>
          <a:xfrm>
            <a:off x="8412480" y="3483864"/>
            <a:ext cx="310896" cy="310896"/>
          </a:xfrm>
          <a:prstGeom prst="rect">
            <a:avLst/>
          </a:prstGeom>
          <a:noFill/>
          <a:ln>
            <a:noFill/>
          </a:ln>
        </p:spPr>
      </p:pic>
      <p:sp>
        <p:nvSpPr>
          <p:cNvPr id="442" name="Google Shape;442;p13"/>
          <p:cNvSpPr/>
          <p:nvPr/>
        </p:nvSpPr>
        <p:spPr>
          <a:xfrm>
            <a:off x="8266176" y="404164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Critic replanning loop</a:t>
            </a:r>
            <a:endParaRPr b="0" i="0" sz="1500" u="none" cap="none" strike="noStrike">
              <a:solidFill>
                <a:schemeClr val="dk1"/>
              </a:solidFill>
              <a:latin typeface="Calibri"/>
              <a:ea typeface="Calibri"/>
              <a:cs typeface="Calibri"/>
              <a:sym typeface="Calibri"/>
            </a:endParaRPr>
          </a:p>
        </p:txBody>
      </p:sp>
      <p:sp>
        <p:nvSpPr>
          <p:cNvPr id="443" name="Google Shape;443;p13"/>
          <p:cNvSpPr/>
          <p:nvPr/>
        </p:nvSpPr>
        <p:spPr>
          <a:xfrm>
            <a:off x="8266176" y="4407408"/>
            <a:ext cx="3200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A self-check that catches weak output before the user ever sees it</a:t>
            </a:r>
            <a:endParaRPr b="0" i="0" sz="1150" u="none" cap="none" strike="noStrike">
              <a:solidFill>
                <a:schemeClr val="dk1"/>
              </a:solidFill>
              <a:latin typeface="Calibri"/>
              <a:ea typeface="Calibri"/>
              <a:cs typeface="Calibri"/>
              <a:sym typeface="Calibri"/>
            </a:endParaRPr>
          </a:p>
        </p:txBody>
      </p:sp>
      <p:sp>
        <p:nvSpPr>
          <p:cNvPr id="444" name="Google Shape;444;p13"/>
          <p:cNvSpPr/>
          <p:nvPr/>
        </p:nvSpPr>
        <p:spPr>
          <a:xfrm>
            <a:off x="548640" y="54864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1400"/>
              <a:buFont typeface="Trebuchet MS"/>
              <a:buNone/>
            </a:pPr>
            <a:r>
              <a:rPr b="1" i="1" lang="en-US" sz="1400" u="none" cap="none" strike="noStrike">
                <a:solidFill>
                  <a:srgbClr val="FBBF24"/>
                </a:solidFill>
                <a:latin typeface="Trebuchet MS"/>
                <a:ea typeface="Trebuchet MS"/>
                <a:cs typeface="Trebuchet MS"/>
                <a:sym typeface="Trebuchet MS"/>
              </a:rPr>
              <a:t>There's a real trade-off between how much the agents coordinate and how fast they respond. Tiering turns that into something you can actually dial up or down.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449" name="Shape 449"/>
        <p:cNvGrpSpPr/>
        <p:nvPr/>
      </p:nvGrpSpPr>
      <p:grpSpPr>
        <a:xfrm>
          <a:off x="0" y="0"/>
          <a:ext cx="0" cy="0"/>
          <a:chOff x="0" y="0"/>
          <a:chExt cx="0" cy="0"/>
        </a:xfrm>
      </p:grpSpPr>
      <p:sp>
        <p:nvSpPr>
          <p:cNvPr id="450" name="Google Shape;450;p14"/>
          <p:cNvSpPr/>
          <p:nvPr/>
        </p:nvSpPr>
        <p:spPr>
          <a:xfrm>
            <a:off x="10908792" y="292608"/>
            <a:ext cx="91440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742"/>
              </a:buClr>
              <a:buSzPts val="3000"/>
              <a:buFont typeface="Trebuchet MS"/>
              <a:buNone/>
            </a:pPr>
            <a:r>
              <a:rPr b="1" i="0" lang="en-US" sz="3000" u="none" cap="none" strike="noStrike">
                <a:solidFill>
                  <a:srgbClr val="1B2742"/>
                </a:solidFill>
                <a:latin typeface="Trebuchet MS"/>
                <a:ea typeface="Trebuchet MS"/>
                <a:cs typeface="Trebuchet MS"/>
                <a:sym typeface="Trebuchet MS"/>
              </a:rPr>
              <a:t>07</a:t>
            </a:r>
            <a:endParaRPr b="0" i="0" sz="3000" u="none" cap="none" strike="noStrike">
              <a:solidFill>
                <a:schemeClr val="dk1"/>
              </a:solidFill>
              <a:latin typeface="Calibri"/>
              <a:ea typeface="Calibri"/>
              <a:cs typeface="Calibri"/>
              <a:sym typeface="Calibri"/>
            </a:endParaRPr>
          </a:p>
        </p:txBody>
      </p:sp>
      <p:sp>
        <p:nvSpPr>
          <p:cNvPr id="451" name="Google Shape;451;p14"/>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200"/>
              <a:buFont typeface="Trebuchet MS"/>
              <a:buNone/>
            </a:pPr>
            <a:r>
              <a:rPr b="1" i="0" lang="en-US" sz="1200" u="none" cap="none" strike="noStrike">
                <a:solidFill>
                  <a:srgbClr val="22D3EE"/>
                </a:solidFill>
                <a:latin typeface="Trebuchet MS"/>
                <a:ea typeface="Trebuchet MS"/>
                <a:cs typeface="Trebuchet MS"/>
                <a:sym typeface="Trebuchet MS"/>
              </a:rPr>
              <a:t>7 · RECOMMENDATIONS FOR FURTHER WORK</a:t>
            </a:r>
            <a:endParaRPr b="0" i="0" sz="1200" u="none" cap="none" strike="noStrike">
              <a:solidFill>
                <a:schemeClr val="dk1"/>
              </a:solidFill>
              <a:latin typeface="Calibri"/>
              <a:ea typeface="Calibri"/>
              <a:cs typeface="Calibri"/>
              <a:sym typeface="Calibri"/>
            </a:endParaRPr>
          </a:p>
        </p:txBody>
      </p:sp>
      <p:sp>
        <p:nvSpPr>
          <p:cNvPr id="452" name="Google Shape;452;p14"/>
          <p:cNvSpPr/>
          <p:nvPr/>
        </p:nvSpPr>
        <p:spPr>
          <a:xfrm>
            <a:off x="548640" y="676656"/>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3000"/>
              <a:buFont typeface="Trebuchet MS"/>
              <a:buNone/>
            </a:pPr>
            <a:r>
              <a:rPr b="1" i="0" lang="en-US" sz="3000" u="none" cap="none" strike="noStrike">
                <a:solidFill>
                  <a:srgbClr val="E6EDF6"/>
                </a:solidFill>
                <a:latin typeface="Trebuchet MS"/>
                <a:ea typeface="Trebuchet MS"/>
                <a:cs typeface="Trebuchet MS"/>
                <a:sym typeface="Trebuchet MS"/>
              </a:rPr>
              <a:t>Working, but not finished</a:t>
            </a:r>
            <a:endParaRPr b="0" i="0" sz="3000" u="none" cap="none" strike="noStrike">
              <a:solidFill>
                <a:schemeClr val="dk1"/>
              </a:solidFill>
              <a:latin typeface="Calibri"/>
              <a:ea typeface="Calibri"/>
              <a:cs typeface="Calibri"/>
              <a:sym typeface="Calibri"/>
            </a:endParaRPr>
          </a:p>
        </p:txBody>
      </p:sp>
      <p:sp>
        <p:nvSpPr>
          <p:cNvPr id="453" name="Google Shape;453;p14"/>
          <p:cNvSpPr/>
          <p:nvPr/>
        </p:nvSpPr>
        <p:spPr>
          <a:xfrm>
            <a:off x="548640" y="1600200"/>
            <a:ext cx="5550408" cy="1207008"/>
          </a:xfrm>
          <a:prstGeom prst="roundRect">
            <a:avLst>
              <a:gd fmla="val 606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a:off x="804672" y="1856232"/>
            <a:ext cx="566928" cy="566928"/>
          </a:xfrm>
          <a:prstGeom prst="ellipse">
            <a:avLst/>
          </a:prstGeom>
          <a:solidFill>
            <a:srgbClr val="0C1326"/>
          </a:solidFill>
          <a:ln cap="flat" cmpd="sng" w="1650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5" name="Google Shape;455;p14"/>
          <p:cNvPicPr preferRelativeResize="0"/>
          <p:nvPr/>
        </p:nvPicPr>
        <p:blipFill rotWithShape="1">
          <a:blip r:embed="rId3">
            <a:alphaModFix/>
          </a:blip>
          <a:srcRect b="0" l="0" r="0" t="0"/>
          <a:stretch/>
        </p:blipFill>
        <p:spPr>
          <a:xfrm>
            <a:off x="941832" y="1993392"/>
            <a:ext cx="292608" cy="292608"/>
          </a:xfrm>
          <a:prstGeom prst="rect">
            <a:avLst/>
          </a:prstGeom>
          <a:noFill/>
          <a:ln>
            <a:noFill/>
          </a:ln>
        </p:spPr>
      </p:pic>
      <p:sp>
        <p:nvSpPr>
          <p:cNvPr id="456" name="Google Shape;456;p14"/>
          <p:cNvSpPr/>
          <p:nvPr/>
        </p:nvSpPr>
        <p:spPr>
          <a:xfrm>
            <a:off x="5458968" y="1709928"/>
            <a:ext cx="4572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742"/>
              </a:buClr>
              <a:buSzPts val="2600"/>
              <a:buFont typeface="Trebuchet MS"/>
              <a:buNone/>
            </a:pPr>
            <a:r>
              <a:rPr b="1" i="0" lang="en-US" sz="2600" u="none" cap="none" strike="noStrike">
                <a:solidFill>
                  <a:srgbClr val="1B2742"/>
                </a:solidFill>
                <a:latin typeface="Trebuchet MS"/>
                <a:ea typeface="Trebuchet MS"/>
                <a:cs typeface="Trebuchet MS"/>
                <a:sym typeface="Trebuchet MS"/>
              </a:rPr>
              <a:t>1</a:t>
            </a:r>
            <a:endParaRPr b="0" i="0" sz="2600" u="none" cap="none" strike="noStrike">
              <a:solidFill>
                <a:schemeClr val="dk1"/>
              </a:solidFill>
              <a:latin typeface="Calibri"/>
              <a:ea typeface="Calibri"/>
              <a:cs typeface="Calibri"/>
              <a:sym typeface="Calibri"/>
            </a:endParaRPr>
          </a:p>
        </p:txBody>
      </p:sp>
      <p:sp>
        <p:nvSpPr>
          <p:cNvPr id="457" name="Google Shape;457;p14"/>
          <p:cNvSpPr/>
          <p:nvPr/>
        </p:nvSpPr>
        <p:spPr>
          <a:xfrm>
            <a:off x="1536192" y="1819656"/>
            <a:ext cx="4270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Schema validation &amp; DAG checks</a:t>
            </a:r>
            <a:endParaRPr b="0" i="0" sz="1500" u="none" cap="none" strike="noStrike">
              <a:solidFill>
                <a:schemeClr val="dk1"/>
              </a:solidFill>
              <a:latin typeface="Calibri"/>
              <a:ea typeface="Calibri"/>
              <a:cs typeface="Calibri"/>
              <a:sym typeface="Calibri"/>
            </a:endParaRPr>
          </a:p>
        </p:txBody>
      </p:sp>
      <p:sp>
        <p:nvSpPr>
          <p:cNvPr id="458" name="Google Shape;458;p14"/>
          <p:cNvSpPr/>
          <p:nvPr/>
        </p:nvSpPr>
        <p:spPr>
          <a:xfrm>
            <a:off x="1536192" y="2203704"/>
            <a:ext cx="427024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Pydantic validation + a topological sort to catch bad plans earlier (~1 week)</a:t>
            </a:r>
            <a:endParaRPr b="0" i="0" sz="1150" u="none" cap="none" strike="noStrike">
              <a:solidFill>
                <a:schemeClr val="dk1"/>
              </a:solidFill>
              <a:latin typeface="Calibri"/>
              <a:ea typeface="Calibri"/>
              <a:cs typeface="Calibri"/>
              <a:sym typeface="Calibri"/>
            </a:endParaRPr>
          </a:p>
        </p:txBody>
      </p:sp>
      <p:sp>
        <p:nvSpPr>
          <p:cNvPr id="459" name="Google Shape;459;p14"/>
          <p:cNvSpPr/>
          <p:nvPr/>
        </p:nvSpPr>
        <p:spPr>
          <a:xfrm>
            <a:off x="6190488" y="1600200"/>
            <a:ext cx="5550408" cy="1207008"/>
          </a:xfrm>
          <a:prstGeom prst="roundRect">
            <a:avLst>
              <a:gd fmla="val 606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4"/>
          <p:cNvSpPr/>
          <p:nvPr/>
        </p:nvSpPr>
        <p:spPr>
          <a:xfrm>
            <a:off x="6446520" y="1856232"/>
            <a:ext cx="566928" cy="566928"/>
          </a:xfrm>
          <a:prstGeom prst="ellipse">
            <a:avLst/>
          </a:prstGeom>
          <a:solidFill>
            <a:srgbClr val="0C1326"/>
          </a:solidFill>
          <a:ln cap="flat" cmpd="sng" w="1650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1" name="Google Shape;461;p14"/>
          <p:cNvPicPr preferRelativeResize="0"/>
          <p:nvPr/>
        </p:nvPicPr>
        <p:blipFill rotWithShape="1">
          <a:blip r:embed="rId4">
            <a:alphaModFix/>
          </a:blip>
          <a:srcRect b="0" l="0" r="0" t="0"/>
          <a:stretch/>
        </p:blipFill>
        <p:spPr>
          <a:xfrm>
            <a:off x="6583680" y="1993392"/>
            <a:ext cx="292608" cy="292608"/>
          </a:xfrm>
          <a:prstGeom prst="rect">
            <a:avLst/>
          </a:prstGeom>
          <a:noFill/>
          <a:ln>
            <a:noFill/>
          </a:ln>
        </p:spPr>
      </p:pic>
      <p:sp>
        <p:nvSpPr>
          <p:cNvPr id="462" name="Google Shape;462;p14"/>
          <p:cNvSpPr/>
          <p:nvPr/>
        </p:nvSpPr>
        <p:spPr>
          <a:xfrm>
            <a:off x="11100816" y="1709928"/>
            <a:ext cx="4572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742"/>
              </a:buClr>
              <a:buSzPts val="2600"/>
              <a:buFont typeface="Trebuchet MS"/>
              <a:buNone/>
            </a:pPr>
            <a:r>
              <a:rPr b="1" i="0" lang="en-US" sz="2600" u="none" cap="none" strike="noStrike">
                <a:solidFill>
                  <a:srgbClr val="1B2742"/>
                </a:solidFill>
                <a:latin typeface="Trebuchet MS"/>
                <a:ea typeface="Trebuchet MS"/>
                <a:cs typeface="Trebuchet MS"/>
                <a:sym typeface="Trebuchet MS"/>
              </a:rPr>
              <a:t>2</a:t>
            </a:r>
            <a:endParaRPr b="0" i="0" sz="2600" u="none" cap="none" strike="noStrike">
              <a:solidFill>
                <a:schemeClr val="dk1"/>
              </a:solidFill>
              <a:latin typeface="Calibri"/>
              <a:ea typeface="Calibri"/>
              <a:cs typeface="Calibri"/>
              <a:sym typeface="Calibri"/>
            </a:endParaRPr>
          </a:p>
        </p:txBody>
      </p:sp>
      <p:sp>
        <p:nvSpPr>
          <p:cNvPr id="463" name="Google Shape;463;p14"/>
          <p:cNvSpPr/>
          <p:nvPr/>
        </p:nvSpPr>
        <p:spPr>
          <a:xfrm>
            <a:off x="7178040" y="1819656"/>
            <a:ext cx="4270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Memory that scales</a:t>
            </a:r>
            <a:endParaRPr b="0" i="0" sz="1500" u="none" cap="none" strike="noStrike">
              <a:solidFill>
                <a:schemeClr val="dk1"/>
              </a:solidFill>
              <a:latin typeface="Calibri"/>
              <a:ea typeface="Calibri"/>
              <a:cs typeface="Calibri"/>
              <a:sym typeface="Calibri"/>
            </a:endParaRPr>
          </a:p>
        </p:txBody>
      </p:sp>
      <p:sp>
        <p:nvSpPr>
          <p:cNvPr id="464" name="Google Shape;464;p14"/>
          <p:cNvSpPr/>
          <p:nvPr/>
        </p:nvSpPr>
        <p:spPr>
          <a:xfrm>
            <a:off x="7178040" y="2203704"/>
            <a:ext cx="427024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Better filtering and reranking; a proper vector DB beyond a single user</a:t>
            </a:r>
            <a:endParaRPr b="0" i="0" sz="1150" u="none" cap="none" strike="noStrike">
              <a:solidFill>
                <a:schemeClr val="dk1"/>
              </a:solidFill>
              <a:latin typeface="Calibri"/>
              <a:ea typeface="Calibri"/>
              <a:cs typeface="Calibri"/>
              <a:sym typeface="Calibri"/>
            </a:endParaRPr>
          </a:p>
        </p:txBody>
      </p:sp>
      <p:sp>
        <p:nvSpPr>
          <p:cNvPr id="465" name="Google Shape;465;p14"/>
          <p:cNvSpPr/>
          <p:nvPr/>
        </p:nvSpPr>
        <p:spPr>
          <a:xfrm>
            <a:off x="548640" y="2971800"/>
            <a:ext cx="5550408" cy="1207008"/>
          </a:xfrm>
          <a:prstGeom prst="roundRect">
            <a:avLst>
              <a:gd fmla="val 606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804672" y="3227832"/>
            <a:ext cx="566928" cy="566928"/>
          </a:xfrm>
          <a:prstGeom prst="ellipse">
            <a:avLst/>
          </a:prstGeom>
          <a:solidFill>
            <a:srgbClr val="0C1326"/>
          </a:solidFill>
          <a:ln cap="flat" cmpd="sng" w="1650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7" name="Google Shape;467;p14"/>
          <p:cNvPicPr preferRelativeResize="0"/>
          <p:nvPr/>
        </p:nvPicPr>
        <p:blipFill rotWithShape="1">
          <a:blip r:embed="rId5">
            <a:alphaModFix/>
          </a:blip>
          <a:srcRect b="0" l="0" r="0" t="0"/>
          <a:stretch/>
        </p:blipFill>
        <p:spPr>
          <a:xfrm>
            <a:off x="941832" y="3364992"/>
            <a:ext cx="292608" cy="292608"/>
          </a:xfrm>
          <a:prstGeom prst="rect">
            <a:avLst/>
          </a:prstGeom>
          <a:noFill/>
          <a:ln>
            <a:noFill/>
          </a:ln>
        </p:spPr>
      </p:pic>
      <p:sp>
        <p:nvSpPr>
          <p:cNvPr id="468" name="Google Shape;468;p14"/>
          <p:cNvSpPr/>
          <p:nvPr/>
        </p:nvSpPr>
        <p:spPr>
          <a:xfrm>
            <a:off x="5458968" y="3081528"/>
            <a:ext cx="4572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742"/>
              </a:buClr>
              <a:buSzPts val="2600"/>
              <a:buFont typeface="Trebuchet MS"/>
              <a:buNone/>
            </a:pPr>
            <a:r>
              <a:rPr b="1" i="0" lang="en-US" sz="2600" u="none" cap="none" strike="noStrike">
                <a:solidFill>
                  <a:srgbClr val="1B2742"/>
                </a:solidFill>
                <a:latin typeface="Trebuchet MS"/>
                <a:ea typeface="Trebuchet MS"/>
                <a:cs typeface="Trebuchet MS"/>
                <a:sym typeface="Trebuchet MS"/>
              </a:rPr>
              <a:t>3</a:t>
            </a:r>
            <a:endParaRPr b="0" i="0" sz="2600" u="none" cap="none" strike="noStrike">
              <a:solidFill>
                <a:schemeClr val="dk1"/>
              </a:solidFill>
              <a:latin typeface="Calibri"/>
              <a:ea typeface="Calibri"/>
              <a:cs typeface="Calibri"/>
              <a:sym typeface="Calibri"/>
            </a:endParaRPr>
          </a:p>
        </p:txBody>
      </p:sp>
      <p:sp>
        <p:nvSpPr>
          <p:cNvPr id="469" name="Google Shape;469;p14"/>
          <p:cNvSpPr/>
          <p:nvPr/>
        </p:nvSpPr>
        <p:spPr>
          <a:xfrm>
            <a:off x="1536192" y="3191256"/>
            <a:ext cx="4270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A real user study</a:t>
            </a:r>
            <a:endParaRPr b="0" i="0" sz="1500" u="none" cap="none" strike="noStrike">
              <a:solidFill>
                <a:schemeClr val="dk1"/>
              </a:solidFill>
              <a:latin typeface="Calibri"/>
              <a:ea typeface="Calibri"/>
              <a:cs typeface="Calibri"/>
              <a:sym typeface="Calibri"/>
            </a:endParaRPr>
          </a:p>
        </p:txBody>
      </p:sp>
      <p:sp>
        <p:nvSpPr>
          <p:cNvPr id="470" name="Google Shape;470;p14"/>
          <p:cNvSpPr/>
          <p:nvPr/>
        </p:nvSpPr>
        <p:spPr>
          <a:xfrm>
            <a:off x="1536192" y="3575304"/>
            <a:ext cx="427024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5–10 people, SUS scoring and interviews — consent forms already drafted</a:t>
            </a:r>
            <a:endParaRPr b="0" i="0" sz="1150" u="none" cap="none" strike="noStrike">
              <a:solidFill>
                <a:schemeClr val="dk1"/>
              </a:solidFill>
              <a:latin typeface="Calibri"/>
              <a:ea typeface="Calibri"/>
              <a:cs typeface="Calibri"/>
              <a:sym typeface="Calibri"/>
            </a:endParaRPr>
          </a:p>
        </p:txBody>
      </p:sp>
      <p:sp>
        <p:nvSpPr>
          <p:cNvPr id="471" name="Google Shape;471;p14"/>
          <p:cNvSpPr/>
          <p:nvPr/>
        </p:nvSpPr>
        <p:spPr>
          <a:xfrm>
            <a:off x="6190488" y="2971800"/>
            <a:ext cx="5550408" cy="1207008"/>
          </a:xfrm>
          <a:prstGeom prst="roundRect">
            <a:avLst>
              <a:gd fmla="val 606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6446520" y="3227832"/>
            <a:ext cx="566928" cy="566928"/>
          </a:xfrm>
          <a:prstGeom prst="ellipse">
            <a:avLst/>
          </a:prstGeom>
          <a:solidFill>
            <a:srgbClr val="0C1326"/>
          </a:solidFill>
          <a:ln cap="flat" cmpd="sng" w="1650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3" name="Google Shape;473;p14"/>
          <p:cNvPicPr preferRelativeResize="0"/>
          <p:nvPr/>
        </p:nvPicPr>
        <p:blipFill rotWithShape="1">
          <a:blip r:embed="rId6">
            <a:alphaModFix/>
          </a:blip>
          <a:srcRect b="0" l="0" r="0" t="0"/>
          <a:stretch/>
        </p:blipFill>
        <p:spPr>
          <a:xfrm>
            <a:off x="6583680" y="3364992"/>
            <a:ext cx="292608" cy="292608"/>
          </a:xfrm>
          <a:prstGeom prst="rect">
            <a:avLst/>
          </a:prstGeom>
          <a:noFill/>
          <a:ln>
            <a:noFill/>
          </a:ln>
        </p:spPr>
      </p:pic>
      <p:sp>
        <p:nvSpPr>
          <p:cNvPr id="474" name="Google Shape;474;p14"/>
          <p:cNvSpPr/>
          <p:nvPr/>
        </p:nvSpPr>
        <p:spPr>
          <a:xfrm>
            <a:off x="11100816" y="3081528"/>
            <a:ext cx="4572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742"/>
              </a:buClr>
              <a:buSzPts val="2600"/>
              <a:buFont typeface="Trebuchet MS"/>
              <a:buNone/>
            </a:pPr>
            <a:r>
              <a:rPr b="1" i="0" lang="en-US" sz="2600" u="none" cap="none" strike="noStrike">
                <a:solidFill>
                  <a:srgbClr val="1B2742"/>
                </a:solidFill>
                <a:latin typeface="Trebuchet MS"/>
                <a:ea typeface="Trebuchet MS"/>
                <a:cs typeface="Trebuchet MS"/>
                <a:sym typeface="Trebuchet MS"/>
              </a:rPr>
              <a:t>4</a:t>
            </a:r>
            <a:endParaRPr b="0" i="0" sz="2600" u="none" cap="none" strike="noStrike">
              <a:solidFill>
                <a:schemeClr val="dk1"/>
              </a:solidFill>
              <a:latin typeface="Calibri"/>
              <a:ea typeface="Calibri"/>
              <a:cs typeface="Calibri"/>
              <a:sym typeface="Calibri"/>
            </a:endParaRPr>
          </a:p>
        </p:txBody>
      </p:sp>
      <p:sp>
        <p:nvSpPr>
          <p:cNvPr id="475" name="Google Shape;475;p14"/>
          <p:cNvSpPr/>
          <p:nvPr/>
        </p:nvSpPr>
        <p:spPr>
          <a:xfrm>
            <a:off x="7178040" y="3191256"/>
            <a:ext cx="4270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Wider model comparison</a:t>
            </a:r>
            <a:endParaRPr b="0" i="0" sz="1500" u="none" cap="none" strike="noStrike">
              <a:solidFill>
                <a:schemeClr val="dk1"/>
              </a:solidFill>
              <a:latin typeface="Calibri"/>
              <a:ea typeface="Calibri"/>
              <a:cs typeface="Calibri"/>
              <a:sym typeface="Calibri"/>
            </a:endParaRPr>
          </a:p>
        </p:txBody>
      </p:sp>
      <p:sp>
        <p:nvSpPr>
          <p:cNvPr id="476" name="Google Shape;476;p14"/>
          <p:cNvSpPr/>
          <p:nvPr/>
        </p:nvSpPr>
        <p:spPr>
          <a:xfrm>
            <a:off x="7178040" y="3575304"/>
            <a:ext cx="427024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llama3.2:1b/3b, phi3, gemma vs a cloud 70B — the infrastructure is already there</a:t>
            </a:r>
            <a:endParaRPr b="0" i="0" sz="1150" u="none" cap="none" strike="noStrike">
              <a:solidFill>
                <a:schemeClr val="dk1"/>
              </a:solidFill>
              <a:latin typeface="Calibri"/>
              <a:ea typeface="Calibri"/>
              <a:cs typeface="Calibri"/>
              <a:sym typeface="Calibri"/>
            </a:endParaRPr>
          </a:p>
        </p:txBody>
      </p:sp>
      <p:sp>
        <p:nvSpPr>
          <p:cNvPr id="477" name="Google Shape;477;p14"/>
          <p:cNvSpPr/>
          <p:nvPr/>
        </p:nvSpPr>
        <p:spPr>
          <a:xfrm>
            <a:off x="548640" y="4343400"/>
            <a:ext cx="11091672" cy="1207008"/>
          </a:xfrm>
          <a:prstGeom prst="roundRect">
            <a:avLst>
              <a:gd fmla="val 6061" name="adj"/>
            </a:avLst>
          </a:prstGeom>
          <a:solidFill>
            <a:srgbClr val="141D33"/>
          </a:solidFill>
          <a:ln cap="flat" cmpd="sng" w="12700">
            <a:solidFill>
              <a:srgbClr val="293552"/>
            </a:solidFill>
            <a:prstDash val="solid"/>
            <a:round/>
            <a:headEnd len="sm" w="sm" type="none"/>
            <a:tailEnd len="sm" w="sm" type="none"/>
          </a:ln>
          <a:effectLst>
            <a:outerShdw blurRad="114300" rotWithShape="0" algn="bl" dir="5400000" dist="381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804672" y="4599432"/>
            <a:ext cx="566928" cy="566928"/>
          </a:xfrm>
          <a:prstGeom prst="ellipse">
            <a:avLst/>
          </a:prstGeom>
          <a:solidFill>
            <a:srgbClr val="0C1326"/>
          </a:solidFill>
          <a:ln cap="flat" cmpd="sng" w="16500">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9" name="Google Shape;479;p14"/>
          <p:cNvPicPr preferRelativeResize="0"/>
          <p:nvPr/>
        </p:nvPicPr>
        <p:blipFill rotWithShape="1">
          <a:blip r:embed="rId7">
            <a:alphaModFix/>
          </a:blip>
          <a:srcRect b="0" l="0" r="0" t="0"/>
          <a:stretch/>
        </p:blipFill>
        <p:spPr>
          <a:xfrm>
            <a:off x="941832" y="4736592"/>
            <a:ext cx="292608" cy="292608"/>
          </a:xfrm>
          <a:prstGeom prst="rect">
            <a:avLst/>
          </a:prstGeom>
          <a:noFill/>
          <a:ln>
            <a:noFill/>
          </a:ln>
        </p:spPr>
      </p:pic>
      <p:sp>
        <p:nvSpPr>
          <p:cNvPr id="480" name="Google Shape;480;p14"/>
          <p:cNvSpPr/>
          <p:nvPr/>
        </p:nvSpPr>
        <p:spPr>
          <a:xfrm>
            <a:off x="11000232" y="4453128"/>
            <a:ext cx="4572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B2742"/>
              </a:buClr>
              <a:buSzPts val="2600"/>
              <a:buFont typeface="Trebuchet MS"/>
              <a:buNone/>
            </a:pPr>
            <a:r>
              <a:rPr b="1" i="0" lang="en-US" sz="2600" u="none" cap="none" strike="noStrike">
                <a:solidFill>
                  <a:srgbClr val="1B2742"/>
                </a:solidFill>
                <a:latin typeface="Trebuchet MS"/>
                <a:ea typeface="Trebuchet MS"/>
                <a:cs typeface="Trebuchet MS"/>
                <a:sym typeface="Trebuchet MS"/>
              </a:rPr>
              <a:t>5</a:t>
            </a:r>
            <a:endParaRPr b="0" i="0" sz="2600" u="none" cap="none" strike="noStrike">
              <a:solidFill>
                <a:schemeClr val="dk1"/>
              </a:solidFill>
              <a:latin typeface="Calibri"/>
              <a:ea typeface="Calibri"/>
              <a:cs typeface="Calibri"/>
              <a:sym typeface="Calibri"/>
            </a:endParaRPr>
          </a:p>
        </p:txBody>
      </p:sp>
      <p:sp>
        <p:nvSpPr>
          <p:cNvPr id="481" name="Google Shape;481;p14"/>
          <p:cNvSpPr/>
          <p:nvPr/>
        </p:nvSpPr>
        <p:spPr>
          <a:xfrm>
            <a:off x="1536192" y="4562856"/>
            <a:ext cx="981151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1500"/>
              <a:buFont typeface="Trebuchet MS"/>
              <a:buNone/>
            </a:pPr>
            <a:r>
              <a:rPr b="1" i="0" lang="en-US" sz="1500" u="none" cap="none" strike="noStrike">
                <a:solidFill>
                  <a:srgbClr val="E6EDF6"/>
                </a:solidFill>
                <a:latin typeface="Trebuchet MS"/>
                <a:ea typeface="Trebuchet MS"/>
                <a:cs typeface="Trebuchet MS"/>
                <a:sym typeface="Trebuchet MS"/>
              </a:rPr>
              <a:t>Let it learn from itself</a:t>
            </a:r>
            <a:endParaRPr b="0" i="0" sz="1500" u="none" cap="none" strike="noStrike">
              <a:solidFill>
                <a:schemeClr val="dk1"/>
              </a:solidFill>
              <a:latin typeface="Calibri"/>
              <a:ea typeface="Calibri"/>
              <a:cs typeface="Calibri"/>
              <a:sym typeface="Calibri"/>
            </a:endParaRPr>
          </a:p>
        </p:txBody>
      </p:sp>
      <p:sp>
        <p:nvSpPr>
          <p:cNvPr id="482" name="Google Shape;482;p14"/>
          <p:cNvSpPr/>
          <p:nvPr/>
        </p:nvSpPr>
        <p:spPr>
          <a:xfrm>
            <a:off x="1536192" y="4946904"/>
            <a:ext cx="98115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50"/>
              <a:buFont typeface="Calibri"/>
              <a:buNone/>
            </a:pPr>
            <a:r>
              <a:rPr b="0" i="0" lang="en-US" sz="1150" u="none" cap="none" strike="noStrike">
                <a:solidFill>
                  <a:srgbClr val="93A4BC"/>
                </a:solidFill>
                <a:latin typeface="Calibri"/>
                <a:ea typeface="Calibri"/>
                <a:cs typeface="Calibri"/>
                <a:sym typeface="Calibri"/>
              </a:rPr>
              <a:t>Store the plans that worked and reuse them, so it improves over time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326"/>
        </a:solidFill>
      </p:bgPr>
    </p:bg>
    <p:spTree>
      <p:nvGrpSpPr>
        <p:cNvPr id="487" name="Shape 487"/>
        <p:cNvGrpSpPr/>
        <p:nvPr/>
      </p:nvGrpSpPr>
      <p:grpSpPr>
        <a:xfrm>
          <a:off x="0" y="0"/>
          <a:ext cx="0" cy="0"/>
          <a:chOff x="0" y="0"/>
          <a:chExt cx="0" cy="0"/>
        </a:xfrm>
      </p:grpSpPr>
      <p:sp>
        <p:nvSpPr>
          <p:cNvPr id="488" name="Google Shape;488;p15"/>
          <p:cNvSpPr/>
          <p:nvPr/>
        </p:nvSpPr>
        <p:spPr>
          <a:xfrm>
            <a:off x="9628632" y="1371600"/>
            <a:ext cx="2743200" cy="2743200"/>
          </a:xfrm>
          <a:prstGeom prst="ellipse">
            <a:avLst/>
          </a:prstGeom>
          <a:noFill/>
          <a:ln cap="flat" cmpd="sng" w="12700">
            <a:solidFill>
              <a:srgbClr val="22D3EE">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5"/>
          <p:cNvSpPr/>
          <p:nvPr/>
        </p:nvSpPr>
        <p:spPr>
          <a:xfrm>
            <a:off x="8942832" y="685800"/>
            <a:ext cx="4114800" cy="4114800"/>
          </a:xfrm>
          <a:prstGeom prst="ellipse">
            <a:avLst/>
          </a:prstGeom>
          <a:noFill/>
          <a:ln cap="flat" cmpd="sng" w="12700">
            <a:solidFill>
              <a:srgbClr val="3B82F6">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5"/>
          <p:cNvSpPr/>
          <p:nvPr/>
        </p:nvSpPr>
        <p:spPr>
          <a:xfrm>
            <a:off x="8257032" y="0"/>
            <a:ext cx="5486400" cy="5486400"/>
          </a:xfrm>
          <a:prstGeom prst="ellipse">
            <a:avLst/>
          </a:prstGeom>
          <a:noFill/>
          <a:ln cap="flat" cmpd="sng" w="12700">
            <a:solidFill>
              <a:srgbClr val="22D3EE">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5"/>
          <p:cNvSpPr/>
          <p:nvPr/>
        </p:nvSpPr>
        <p:spPr>
          <a:xfrm>
            <a:off x="7571232" y="-685800"/>
            <a:ext cx="6858000" cy="6858000"/>
          </a:xfrm>
          <a:prstGeom prst="ellipse">
            <a:avLst/>
          </a:prstGeom>
          <a:noFill/>
          <a:ln cap="flat" cmpd="sng" w="12700">
            <a:solidFill>
              <a:srgbClr val="3B82F6">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5"/>
          <p:cNvSpPr/>
          <p:nvPr/>
        </p:nvSpPr>
        <p:spPr>
          <a:xfrm>
            <a:off x="731520" y="914400"/>
            <a:ext cx="8229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6"/>
              </a:buClr>
              <a:buSzPts val="4600"/>
              <a:buFont typeface="Trebuchet MS"/>
              <a:buNone/>
            </a:pPr>
            <a:r>
              <a:rPr b="1" i="0" lang="en-US" sz="4600" u="none" cap="none" strike="noStrike">
                <a:solidFill>
                  <a:srgbClr val="E6EDF6"/>
                </a:solidFill>
                <a:latin typeface="Trebuchet MS"/>
                <a:ea typeface="Trebuchet MS"/>
                <a:cs typeface="Trebuchet MS"/>
                <a:sym typeface="Trebuchet MS"/>
              </a:rPr>
              <a:t>THANK YOU</a:t>
            </a:r>
            <a:endParaRPr b="0" i="0" sz="4600" u="none" cap="none" strike="noStrike">
              <a:solidFill>
                <a:schemeClr val="dk1"/>
              </a:solidFill>
              <a:latin typeface="Calibri"/>
              <a:ea typeface="Calibri"/>
              <a:cs typeface="Calibri"/>
              <a:sym typeface="Calibri"/>
            </a:endParaRPr>
          </a:p>
        </p:txBody>
      </p:sp>
      <p:sp>
        <p:nvSpPr>
          <p:cNvPr id="493" name="Google Shape;493;p15"/>
          <p:cNvSpPr/>
          <p:nvPr/>
        </p:nvSpPr>
        <p:spPr>
          <a:xfrm>
            <a:off x="749808" y="178308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1800"/>
              <a:buFont typeface="Trebuchet MS"/>
              <a:buNone/>
            </a:pPr>
            <a:r>
              <a:rPr b="0" i="1" lang="en-US" sz="1800" u="none" cap="none" strike="noStrike">
                <a:solidFill>
                  <a:srgbClr val="22D3EE"/>
                </a:solidFill>
                <a:latin typeface="Trebuchet MS"/>
                <a:ea typeface="Trebuchet MS"/>
                <a:cs typeface="Trebuchet MS"/>
                <a:sym typeface="Trebuchet MS"/>
              </a:rPr>
              <a:t>Happy to take questions</a:t>
            </a:r>
            <a:endParaRPr b="0" i="0" sz="1800" u="none" cap="none" strike="noStrike">
              <a:solidFill>
                <a:schemeClr val="dk1"/>
              </a:solidFill>
              <a:latin typeface="Calibri"/>
              <a:ea typeface="Calibri"/>
              <a:cs typeface="Calibri"/>
              <a:sym typeface="Calibri"/>
            </a:endParaRPr>
          </a:p>
        </p:txBody>
      </p:sp>
      <p:sp>
        <p:nvSpPr>
          <p:cNvPr id="494" name="Google Shape;494;p15"/>
          <p:cNvSpPr/>
          <p:nvPr/>
        </p:nvSpPr>
        <p:spPr>
          <a:xfrm>
            <a:off x="731520" y="269748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A5FA"/>
              </a:buClr>
              <a:buSzPts val="1300"/>
              <a:buFont typeface="Trebuchet MS"/>
              <a:buNone/>
            </a:pPr>
            <a:r>
              <a:rPr b="1" i="0" lang="en-US" sz="1300" u="none" cap="none" strike="noStrike">
                <a:solidFill>
                  <a:srgbClr val="60A5FA"/>
                </a:solidFill>
                <a:latin typeface="Trebuchet MS"/>
                <a:ea typeface="Trebuchet MS"/>
                <a:cs typeface="Trebuchet MS"/>
                <a:sym typeface="Trebuchet MS"/>
              </a:rPr>
              <a:t>8 · KEY REFERENCES</a:t>
            </a:r>
            <a:endParaRPr b="0" i="0" sz="1300" u="none" cap="none" strike="noStrike">
              <a:solidFill>
                <a:schemeClr val="dk1"/>
              </a:solidFill>
              <a:latin typeface="Calibri"/>
              <a:ea typeface="Calibri"/>
              <a:cs typeface="Calibri"/>
              <a:sym typeface="Calibri"/>
            </a:endParaRPr>
          </a:p>
        </p:txBody>
      </p:sp>
      <p:sp>
        <p:nvSpPr>
          <p:cNvPr id="495" name="Google Shape;495;p15"/>
          <p:cNvSpPr/>
          <p:nvPr/>
        </p:nvSpPr>
        <p:spPr>
          <a:xfrm>
            <a:off x="731520" y="3063240"/>
            <a:ext cx="8686800" cy="274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250"/>
              <a:buFont typeface="Calibri"/>
              <a:buNone/>
            </a:pPr>
            <a:r>
              <a:rPr b="0" i="0" lang="en-US" sz="1250" u="none" cap="none" strike="noStrike">
                <a:solidFill>
                  <a:srgbClr val="93A4BC"/>
                </a:solidFill>
                <a:latin typeface="Calibri"/>
                <a:ea typeface="Calibri"/>
                <a:cs typeface="Calibri"/>
                <a:sym typeface="Calibri"/>
              </a:rPr>
              <a:t>Wei et al. (2022) — Chain-of-Thought Prompting Elicits Reasoning in LLMs</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93A4BC"/>
              </a:buClr>
              <a:buSzPts val="1250"/>
              <a:buFont typeface="Calibri"/>
              <a:buNone/>
            </a:pPr>
            <a:r>
              <a:rPr b="0" i="0" lang="en-US" sz="1250" u="none" cap="none" strike="noStrike">
                <a:solidFill>
                  <a:srgbClr val="93A4BC"/>
                </a:solidFill>
                <a:latin typeface="Calibri"/>
                <a:ea typeface="Calibri"/>
                <a:cs typeface="Calibri"/>
                <a:sym typeface="Calibri"/>
              </a:rPr>
              <a:t>Yao et al. (2022) — ReAct: Synergizing Reasoning and Acting in Language Models</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93A4BC"/>
              </a:buClr>
              <a:buSzPts val="1250"/>
              <a:buFont typeface="Calibri"/>
              <a:buNone/>
            </a:pPr>
            <a:r>
              <a:rPr b="0" i="0" lang="en-US" sz="1250" u="none" cap="none" strike="noStrike">
                <a:solidFill>
                  <a:srgbClr val="93A4BC"/>
                </a:solidFill>
                <a:latin typeface="Calibri"/>
                <a:ea typeface="Calibri"/>
                <a:cs typeface="Calibri"/>
                <a:sym typeface="Calibri"/>
              </a:rPr>
              <a:t>Shinn et al. (2023) — Reflexion: Language Agents with Verbal Reinforcement Learning</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93A4BC"/>
              </a:buClr>
              <a:buSzPts val="1250"/>
              <a:buFont typeface="Calibri"/>
              <a:buNone/>
            </a:pPr>
            <a:r>
              <a:rPr b="0" i="0" lang="en-US" sz="1250" u="none" cap="none" strike="noStrike">
                <a:solidFill>
                  <a:srgbClr val="93A4BC"/>
                </a:solidFill>
                <a:latin typeface="Calibri"/>
                <a:ea typeface="Calibri"/>
                <a:cs typeface="Calibri"/>
                <a:sym typeface="Calibri"/>
              </a:rPr>
              <a:t>Lewis et al. (2020) — Retrieval-Augmented Generation for Knowledge-Intensive NLP</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93A4BC"/>
              </a:buClr>
              <a:buSzPts val="1250"/>
              <a:buFont typeface="Calibri"/>
              <a:buNone/>
            </a:pPr>
            <a:r>
              <a:rPr b="0" i="0" lang="en-US" sz="1250" u="none" cap="none" strike="noStrike">
                <a:solidFill>
                  <a:srgbClr val="93A4BC"/>
                </a:solidFill>
                <a:latin typeface="Calibri"/>
                <a:ea typeface="Calibri"/>
                <a:cs typeface="Calibri"/>
                <a:sym typeface="Calibri"/>
              </a:rPr>
              <a:t>Wu et al. (2023) — AutoGen: Multi-Agent Conversation Framework</a:t>
            </a:r>
            <a:endParaRPr b="0" i="0" sz="12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93A4BC"/>
              </a:buClr>
              <a:buSzPts val="1250"/>
              <a:buFont typeface="Calibri"/>
              <a:buNone/>
            </a:pPr>
            <a:r>
              <a:rPr b="0" i="0" lang="en-US" sz="1250" u="none" cap="none" strike="noStrike">
                <a:solidFill>
                  <a:srgbClr val="93A4BC"/>
                </a:solidFill>
                <a:latin typeface="Calibri"/>
                <a:ea typeface="Calibri"/>
                <a:cs typeface="Calibri"/>
                <a:sym typeface="Calibri"/>
              </a:rPr>
              <a:t>Hevner et al. (2004) — Design Science in Information Systems Research</a:t>
            </a:r>
            <a:endParaRPr b="0" i="0" sz="1250" u="none" cap="none" strike="noStrike">
              <a:solidFill>
                <a:schemeClr val="dk1"/>
              </a:solidFill>
              <a:latin typeface="Calibri"/>
              <a:ea typeface="Calibri"/>
              <a:cs typeface="Calibri"/>
              <a:sym typeface="Calibri"/>
            </a:endParaRPr>
          </a:p>
        </p:txBody>
      </p:sp>
      <p:sp>
        <p:nvSpPr>
          <p:cNvPr id="496" name="Google Shape;496;p15"/>
          <p:cNvSpPr/>
          <p:nvPr/>
        </p:nvSpPr>
        <p:spPr>
          <a:xfrm>
            <a:off x="731520" y="59893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Calibri"/>
              <a:buNone/>
            </a:pPr>
            <a:r>
              <a:rPr b="0" i="1" lang="en-US" sz="1100" u="none" cap="none" strike="noStrike">
                <a:solidFill>
                  <a:srgbClr val="93A4BC"/>
                </a:solidFill>
                <a:latin typeface="Calibri"/>
                <a:ea typeface="Calibri"/>
                <a:cs typeface="Calibri"/>
                <a:sym typeface="Calibri"/>
              </a:rPr>
              <a:t>Full reference list and appendices are in the report.</a:t>
            </a:r>
            <a:endParaRPr b="0" i="0" sz="1100" u="none" cap="none" strike="noStrike">
              <a:solidFill>
                <a:schemeClr val="dk1"/>
              </a:solidFill>
              <a:latin typeface="Calibri"/>
              <a:ea typeface="Calibri"/>
              <a:cs typeface="Calibri"/>
              <a:sym typeface="Calibri"/>
            </a:endParaRPr>
          </a:p>
        </p:txBody>
      </p:sp>
      <p:sp>
        <p:nvSpPr>
          <p:cNvPr id="497" name="Google Shape;497;p15"/>
          <p:cNvSpPr/>
          <p:nvPr/>
        </p:nvSpPr>
        <p:spPr>
          <a:xfrm>
            <a:off x="731520" y="63093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4BC"/>
              </a:buClr>
              <a:buSzPts val="1100"/>
              <a:buFont typeface="Calibri"/>
              <a:buNone/>
            </a:pPr>
            <a:r>
              <a:rPr b="0" i="0" lang="en-US" sz="1100" u="none" cap="none" strike="noStrike">
                <a:solidFill>
                  <a:srgbClr val="93A4BC"/>
                </a:solidFill>
                <a:latin typeface="Calibri"/>
                <a:ea typeface="Calibri"/>
                <a:cs typeface="Calibri"/>
                <a:sym typeface="Calibri"/>
              </a:rPr>
              <a:t>Abdullah Khan Durrani · 22318681 · Buckinghamshire New University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